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22"/>
  </p:notesMasterIdLst>
  <p:sldIdLst>
    <p:sldId id="256" r:id="rId5"/>
    <p:sldId id="269" r:id="rId6"/>
    <p:sldId id="272" r:id="rId7"/>
    <p:sldId id="274" r:id="rId8"/>
    <p:sldId id="281" r:id="rId9"/>
    <p:sldId id="282" r:id="rId10"/>
    <p:sldId id="283" r:id="rId11"/>
    <p:sldId id="284" r:id="rId12"/>
    <p:sldId id="285" r:id="rId13"/>
    <p:sldId id="286" r:id="rId14"/>
    <p:sldId id="287" r:id="rId15"/>
    <p:sldId id="288" r:id="rId16"/>
    <p:sldId id="289" r:id="rId17"/>
    <p:sldId id="290" r:id="rId18"/>
    <p:sldId id="291" r:id="rId19"/>
    <p:sldId id="280" r:id="rId20"/>
    <p:sldId id="26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091A8CC0-BE98-33D6-29AD-D87E5EFB4D5A}"/>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D005C6A5-B57E-5451-13D2-79D6E5E46E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E2D5B646-C741-CCE0-AFC8-E9A2C4B171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6041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C2670526-198D-DD12-D594-80C4F8DCA2B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FEC467C3-FF2B-DFD2-2800-CE5E88E5CB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858C77EA-3774-4562-1DC9-AC60CEEE5B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27364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6B490C1E-6E78-FA2D-58B2-EED6AF86B9C2}"/>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6926D33C-4744-97DF-6D0F-66534D8633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BB9FE55E-C0D6-7104-79ED-F09E85546E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40752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7B9D7E0C-15ED-422A-3792-20298CC1BE5F}"/>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7011C9AB-7413-AB6A-87E2-CFE205261D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5BFF7A0D-0969-C0E3-B014-3ADEF000DA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4717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8FBCEFA-33A4-BA1D-C3C5-17D40FCE5509}"/>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68852658-4779-6744-3221-7E2A0D5273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638D31F6-D6DD-CA5D-2A55-9724D9C8DE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8481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A3B8AC2E-3DC6-BEA4-E4EE-AD0939E43AB1}"/>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B7D76779-733F-ADE9-0B12-CF7C5C93B9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03048CD2-5835-11A5-82B8-2B8CB75FE9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82629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6AAEA73F-39D9-2534-03DC-61A9979DA061}"/>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34601145-470E-3FC7-6063-098EF8175F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027AAAEB-B807-1252-A63A-81C7FC9B67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19514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FD48090-3BFD-1115-4838-86E486E5700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AF294AE8-4141-B33D-2F96-A90BADDCA1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1AE1602A-C731-6B46-A9B6-E09D0F8166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5854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CD8748F3-90FD-1EA6-B781-2EB4E37DAED3}"/>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5286E5EF-E34F-A547-6B5A-D03BA0BC55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18A40523-E3AD-4B13-8461-5ABA85AD7A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2475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1442720" y="1069102"/>
            <a:ext cx="9337040" cy="962898"/>
          </a:xfrm>
          <a:prstGeom prst="rect">
            <a:avLst/>
          </a:prstGeom>
          <a:noFill/>
          <a:ln>
            <a:noFill/>
          </a:ln>
        </p:spPr>
        <p:txBody>
          <a:bodyPr spcFirstLastPara="1" wrap="square" lIns="91425" tIns="45700" rIns="91425" bIns="45700" anchor="ctr" anchorCtr="0">
            <a:noAutofit/>
          </a:bodyPr>
          <a:lstStyle/>
          <a:p>
            <a:pPr lvl="0" algn="ctr"/>
            <a:r>
              <a:rPr lang="en-US" sz="1400" dirty="0">
                <a:solidFill>
                  <a:schemeClr val="tx1"/>
                </a:solidFill>
                <a:latin typeface="+mj-lt"/>
                <a:ea typeface="Cambria" panose="02040503050406030204" pitchFamily="18" charset="0"/>
              </a:rPr>
              <a:t>Development of AI/ML based solution for detection</a:t>
            </a:r>
            <a:br>
              <a:rPr lang="en-US" sz="1400" dirty="0">
                <a:solidFill>
                  <a:schemeClr val="tx1"/>
                </a:solidFill>
                <a:latin typeface="+mj-lt"/>
                <a:ea typeface="Cambria" panose="02040503050406030204" pitchFamily="18" charset="0"/>
              </a:rPr>
            </a:br>
            <a:r>
              <a:rPr lang="en-US" sz="1400" dirty="0">
                <a:solidFill>
                  <a:schemeClr val="tx1"/>
                </a:solidFill>
                <a:latin typeface="+mj-lt"/>
                <a:ea typeface="Cambria" panose="02040503050406030204" pitchFamily="18" charset="0"/>
              </a:rPr>
              <a:t>of face-swap based deep fake videos</a:t>
            </a:r>
            <a:endParaRPr sz="1400" dirty="0">
              <a:solidFill>
                <a:schemeClr val="tx1"/>
              </a:solidFill>
              <a:latin typeface="+mj-lt"/>
              <a:ea typeface="Cambria" panose="02040503050406030204" pitchFamily="18" charset="0"/>
            </a:endParaRPr>
          </a:p>
        </p:txBody>
      </p:sp>
      <p:sp>
        <p:nvSpPr>
          <p:cNvPr id="88" name="Google Shape;88;p13"/>
          <p:cNvSpPr txBox="1">
            <a:spLocks noGrp="1"/>
          </p:cNvSpPr>
          <p:nvPr>
            <p:ph type="subTitle" idx="1"/>
          </p:nvPr>
        </p:nvSpPr>
        <p:spPr>
          <a:xfrm>
            <a:off x="485669" y="2197752"/>
            <a:ext cx="2816332" cy="476025"/>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400" dirty="0">
                <a:latin typeface="+mj-lt"/>
                <a:ea typeface="Cambria" panose="02040503050406030204" pitchFamily="18" charset="0"/>
              </a:rPr>
              <a:t>Batch Number: </a:t>
            </a:r>
            <a:r>
              <a:rPr lang="en-IN" sz="1400" dirty="0">
                <a:latin typeface="+mj-lt"/>
                <a:ea typeface="Cambria" panose="02040503050406030204" pitchFamily="18" charset="0"/>
              </a:rPr>
              <a:t>PSCS_314</a:t>
            </a:r>
            <a:endParaRPr sz="1400" dirty="0">
              <a:latin typeface="+mj-lt"/>
              <a:ea typeface="Cambria" panose="02040503050406030204" pitchFamily="18" charset="0"/>
            </a:endParaRPr>
          </a:p>
        </p:txBody>
      </p:sp>
      <p:sp>
        <p:nvSpPr>
          <p:cNvPr id="90" name="Google Shape;90;p13"/>
          <p:cNvSpPr txBox="1"/>
          <p:nvPr/>
        </p:nvSpPr>
        <p:spPr>
          <a:xfrm>
            <a:off x="7049155" y="2885440"/>
            <a:ext cx="4657177" cy="1451184"/>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a:buNone/>
            </a:pPr>
            <a:r>
              <a:rPr lang="en-GB" b="1" i="0" u="none" strike="noStrike" cap="none" dirty="0">
                <a:solidFill>
                  <a:srgbClr val="17365D"/>
                </a:solidFill>
                <a:latin typeface="+mj-lt"/>
                <a:ea typeface="Cambria" panose="02040503050406030204" pitchFamily="18" charset="0"/>
                <a:cs typeface="Verdana"/>
                <a:sym typeface="Verdana"/>
              </a:rPr>
              <a:t>Under the Supervision of,</a:t>
            </a:r>
          </a:p>
          <a:p>
            <a:pPr marL="0" marR="0" lvl="0" indent="0" algn="ctr" rtl="0">
              <a:spcBef>
                <a:spcPts val="0"/>
              </a:spcBef>
              <a:spcAft>
                <a:spcPts val="0"/>
              </a:spcAft>
              <a:buClr>
                <a:srgbClr val="17365D"/>
              </a:buClr>
              <a:buSzPts val="2000"/>
              <a:buFont typeface="Arial"/>
              <a:buNone/>
            </a:pPr>
            <a:endParaRPr dirty="0">
              <a:latin typeface="+mj-lt"/>
              <a:ea typeface="Cambria" panose="02040503050406030204" pitchFamily="18" charset="0"/>
            </a:endParaRPr>
          </a:p>
          <a:p>
            <a:pPr lvl="0">
              <a:spcBef>
                <a:spcPts val="340"/>
              </a:spcBef>
              <a:buClr>
                <a:srgbClr val="17365D"/>
              </a:buClr>
              <a:buSzPts val="1700"/>
            </a:pPr>
            <a:r>
              <a:rPr lang="en-GB" b="1" i="0" u="none" strike="noStrike" cap="none" dirty="0">
                <a:solidFill>
                  <a:srgbClr val="17365D"/>
                </a:solidFill>
                <a:latin typeface="+mj-lt"/>
                <a:ea typeface="Cambria" panose="02040503050406030204" pitchFamily="18" charset="0"/>
                <a:cs typeface="Verdana"/>
                <a:sym typeface="Verdana"/>
              </a:rPr>
              <a:t>Mr.</a:t>
            </a:r>
            <a:r>
              <a:rPr lang="en-GB" b="1" dirty="0">
                <a:solidFill>
                  <a:srgbClr val="17365D"/>
                </a:solidFill>
                <a:latin typeface="+mj-lt"/>
                <a:ea typeface="Cambria" panose="02040503050406030204" pitchFamily="18" charset="0"/>
                <a:cs typeface="Verdana"/>
                <a:sym typeface="Verdana"/>
              </a:rPr>
              <a:t> </a:t>
            </a:r>
            <a:r>
              <a:rPr lang="en-IN" b="1">
                <a:latin typeface="+mj-lt"/>
              </a:rPr>
              <a:t>Himansu Sekhar </a:t>
            </a:r>
            <a:r>
              <a:rPr lang="en-IN" b="1" dirty="0">
                <a:latin typeface="+mj-lt"/>
              </a:rPr>
              <a:t>Rout</a:t>
            </a:r>
            <a:endParaRPr lang="en-GB" b="1" i="0" u="none" strike="noStrike" cap="none" dirty="0">
              <a:solidFill>
                <a:srgbClr val="17365D"/>
              </a:solidFill>
              <a:latin typeface="+mj-lt"/>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b="1" i="0" u="none" strike="noStrike" cap="none" dirty="0">
                <a:solidFill>
                  <a:srgbClr val="17365D"/>
                </a:solidFill>
                <a:latin typeface="+mj-lt"/>
                <a:ea typeface="Cambria" panose="02040503050406030204" pitchFamily="18" charset="0"/>
                <a:cs typeface="Verdana"/>
                <a:sym typeface="Verdana"/>
              </a:rPr>
              <a:t>Assistant Professor</a:t>
            </a:r>
            <a:endParaRPr lang="en-GB" dirty="0">
              <a:latin typeface="+mj-lt"/>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b="1" i="0" u="none" strike="noStrike" cap="none" dirty="0">
                <a:solidFill>
                  <a:srgbClr val="17365D"/>
                </a:solidFill>
                <a:latin typeface="+mj-lt"/>
                <a:ea typeface="Cambria" panose="02040503050406030204" pitchFamily="18" charset="0"/>
                <a:cs typeface="Verdana"/>
                <a:sym typeface="Verdana"/>
              </a:rPr>
              <a:t>School of Computer Science and Engineering</a:t>
            </a:r>
            <a:endParaRPr dirty="0">
              <a:latin typeface="+mj-lt"/>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b="1" i="0" u="none" strike="noStrike" cap="none" dirty="0">
                <a:solidFill>
                  <a:srgbClr val="17365D"/>
                </a:solidFill>
                <a:latin typeface="+mj-lt"/>
                <a:ea typeface="Cambria" panose="02040503050406030204" pitchFamily="18" charset="0"/>
                <a:cs typeface="Verdana"/>
                <a:sym typeface="Verdana"/>
              </a:rPr>
              <a:t>Presidency University</a:t>
            </a:r>
            <a:endParaRPr dirty="0">
              <a:latin typeface="+mj-lt"/>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b="1" i="0" u="none" strike="noStrike" cap="none" dirty="0">
              <a:solidFill>
                <a:srgbClr val="17365D"/>
              </a:solidFill>
              <a:latin typeface="+mj-lt"/>
              <a:ea typeface="Cambria" panose="02040503050406030204" pitchFamily="18" charset="0"/>
              <a:cs typeface="Verdana"/>
              <a:sym typeface="Verdana"/>
            </a:endParaRPr>
          </a:p>
        </p:txBody>
      </p:sp>
      <p:sp>
        <p:nvSpPr>
          <p:cNvPr id="91" name="Google Shape;91;p13"/>
          <p:cNvSpPr txBox="1"/>
          <p:nvPr/>
        </p:nvSpPr>
        <p:spPr>
          <a:xfrm>
            <a:off x="1442720" y="136441"/>
            <a:ext cx="9337040"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2000" b="1" dirty="0">
                <a:solidFill>
                  <a:srgbClr val="17365D"/>
                </a:solidFill>
                <a:latin typeface="+mj-lt"/>
                <a:ea typeface="Cambria" panose="02040503050406030204" pitchFamily="18" charset="0"/>
                <a:cs typeface="Verdana"/>
                <a:sym typeface="Verdana"/>
              </a:rPr>
              <a:t>CSE7101-</a:t>
            </a:r>
            <a:r>
              <a:rPr lang="en-GB" sz="2000" b="1" i="0" u="none" strike="noStrike" cap="none" dirty="0">
                <a:solidFill>
                  <a:srgbClr val="17365D"/>
                </a:solidFill>
                <a:latin typeface="+mj-lt"/>
                <a:ea typeface="Cambria" panose="02040503050406030204" pitchFamily="18" charset="0"/>
                <a:cs typeface="Verdana"/>
                <a:sym typeface="Verdana"/>
              </a:rPr>
              <a:t> Capstone Project</a:t>
            </a:r>
            <a:endParaRPr sz="2000" dirty="0">
              <a:latin typeface="+mj-lt"/>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mj-lt"/>
                <a:ea typeface="Cambria" panose="02040503050406030204" pitchFamily="18" charset="0"/>
                <a:cs typeface="Verdana"/>
                <a:sym typeface="Verdana"/>
              </a:rPr>
              <a:t>Review-5</a:t>
            </a:r>
            <a:endParaRPr sz="2000" b="1" i="0" u="none" strike="noStrike" cap="none" dirty="0">
              <a:solidFill>
                <a:srgbClr val="17365D"/>
              </a:solidFill>
              <a:latin typeface="+mj-lt"/>
              <a:ea typeface="Cambria" panose="02040503050406030204" pitchFamily="18" charset="0"/>
              <a:cs typeface="Verdana"/>
              <a:sym typeface="Verdana"/>
            </a:endParaRPr>
          </a:p>
        </p:txBody>
      </p:sp>
      <p:sp>
        <p:nvSpPr>
          <p:cNvPr id="8" name="Google Shape;91;p13"/>
          <p:cNvSpPr txBox="1"/>
          <p:nvPr/>
        </p:nvSpPr>
        <p:spPr>
          <a:xfrm>
            <a:off x="485668" y="4826001"/>
            <a:ext cx="6563487" cy="1269999"/>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b="1" i="0" u="none" strike="noStrike" cap="none" dirty="0">
                <a:solidFill>
                  <a:schemeClr val="accent1"/>
                </a:solidFill>
                <a:latin typeface="+mj-lt"/>
                <a:ea typeface="Cambria" panose="02040503050406030204" pitchFamily="18" charset="0"/>
                <a:cs typeface="Verdana"/>
                <a:sym typeface="Verdana"/>
              </a:rPr>
              <a:t>Name of the Program: </a:t>
            </a:r>
            <a:r>
              <a:rPr lang="en-US" b="1" i="0" u="none" strike="noStrike" cap="none" dirty="0">
                <a:solidFill>
                  <a:schemeClr val="tx1"/>
                </a:solidFill>
                <a:latin typeface="+mj-lt"/>
                <a:ea typeface="Cambria" panose="02040503050406030204" pitchFamily="18" charset="0"/>
                <a:cs typeface="Calibri" panose="020F0502020204030204" pitchFamily="34" charset="0"/>
                <a:sym typeface="Verdana"/>
              </a:rPr>
              <a:t>CSG</a:t>
            </a:r>
          </a:p>
          <a:p>
            <a:pPr lvl="0">
              <a:buClr>
                <a:srgbClr val="17365D"/>
              </a:buClr>
              <a:buSzPct val="100000"/>
            </a:pPr>
            <a:r>
              <a:rPr lang="en-US" b="1" dirty="0">
                <a:solidFill>
                  <a:schemeClr val="accent1"/>
                </a:solidFill>
                <a:latin typeface="+mj-lt"/>
                <a:ea typeface="Cambria" panose="02040503050406030204" pitchFamily="18" charset="0"/>
                <a:cs typeface="Verdana"/>
                <a:sym typeface="Verdana"/>
              </a:rPr>
              <a:t>Name of the HoD: </a:t>
            </a:r>
            <a:r>
              <a:rPr lang="en-IN" b="1" dirty="0">
                <a:latin typeface="+mj-lt"/>
              </a:rPr>
              <a:t>Dr. Anandaraj S.P </a:t>
            </a:r>
          </a:p>
          <a:p>
            <a:pPr lvl="0">
              <a:buClr>
                <a:srgbClr val="17365D"/>
              </a:buClr>
              <a:buSzPct val="100000"/>
            </a:pPr>
            <a:r>
              <a:rPr lang="en-US" b="1" i="0" u="none" strike="noStrike" cap="none" dirty="0">
                <a:solidFill>
                  <a:schemeClr val="accent1"/>
                </a:solidFill>
                <a:latin typeface="+mj-lt"/>
                <a:ea typeface="Cambria" panose="02040503050406030204" pitchFamily="18" charset="0"/>
                <a:cs typeface="Verdana"/>
                <a:sym typeface="Verdana"/>
              </a:rPr>
              <a:t>Name of the Program Project Coordinator: </a:t>
            </a:r>
            <a:r>
              <a:rPr lang="en-IN" b="1" dirty="0">
                <a:latin typeface="+mj-lt"/>
              </a:rPr>
              <a:t>Dr. </a:t>
            </a:r>
            <a:r>
              <a:rPr lang="en-IN" b="1" dirty="0" err="1">
                <a:latin typeface="+mj-lt"/>
              </a:rPr>
              <a:t>Sharmasth</a:t>
            </a:r>
            <a:r>
              <a:rPr lang="en-IN" b="1" dirty="0">
                <a:latin typeface="+mj-lt"/>
              </a:rPr>
              <a:t> Vali </a:t>
            </a:r>
          </a:p>
          <a:p>
            <a:pPr lvl="0">
              <a:buClr>
                <a:srgbClr val="17365D"/>
              </a:buClr>
              <a:buSzPct val="100000"/>
            </a:pPr>
            <a:r>
              <a:rPr lang="en-US" b="1" dirty="0">
                <a:solidFill>
                  <a:schemeClr val="accent1"/>
                </a:solidFill>
                <a:latin typeface="+mj-lt"/>
                <a:ea typeface="Cambria" panose="02040503050406030204" pitchFamily="18" charset="0"/>
                <a:cs typeface="Verdana"/>
                <a:sym typeface="Verdana"/>
              </a:rPr>
              <a:t>Name of the School Project Coordinators: </a:t>
            </a:r>
            <a:r>
              <a:rPr lang="en-US" b="1" i="0" u="none" strike="noStrike" cap="none" dirty="0">
                <a:solidFill>
                  <a:schemeClr val="tx1"/>
                </a:solidFill>
                <a:latin typeface="+mj-lt"/>
                <a:ea typeface="Cambria" panose="02040503050406030204" pitchFamily="18" charset="0"/>
                <a:cs typeface="Verdana"/>
                <a:sym typeface="Verdana"/>
              </a:rPr>
              <a:t>Dr. Sampath A K , Dr. Geetha A </a:t>
            </a:r>
            <a:endParaRPr b="1" i="0" u="none" strike="noStrike" cap="none" dirty="0">
              <a:solidFill>
                <a:schemeClr val="tx1"/>
              </a:solidFill>
              <a:latin typeface="+mj-lt"/>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6B6E5F89-EEF8-0122-7FF9-5F206F574036}"/>
              </a:ext>
            </a:extLst>
          </p:cNvPr>
          <p:cNvGraphicFramePr>
            <a:graphicFrameLocks noGrp="1"/>
          </p:cNvGraphicFramePr>
          <p:nvPr>
            <p:extLst>
              <p:ext uri="{D42A27DB-BD31-4B8C-83A1-F6EECF244321}">
                <p14:modId xmlns:p14="http://schemas.microsoft.com/office/powerpoint/2010/main" val="2083015512"/>
              </p:ext>
            </p:extLst>
          </p:nvPr>
        </p:nvGraphicFramePr>
        <p:xfrm>
          <a:off x="485668" y="2885440"/>
          <a:ext cx="5610332" cy="1451184"/>
        </p:xfrm>
        <a:graphic>
          <a:graphicData uri="http://schemas.openxmlformats.org/drawingml/2006/table">
            <a:tbl>
              <a:tblPr firstRow="1" bandRow="1"/>
              <a:tblGrid>
                <a:gridCol w="2789725">
                  <a:extLst>
                    <a:ext uri="{9D8B030D-6E8A-4147-A177-3AD203B41FA5}">
                      <a16:colId xmlns:a16="http://schemas.microsoft.com/office/drawing/2014/main" val="4087889410"/>
                    </a:ext>
                  </a:extLst>
                </a:gridCol>
                <a:gridCol w="2820607">
                  <a:extLst>
                    <a:ext uri="{9D8B030D-6E8A-4147-A177-3AD203B41FA5}">
                      <a16:colId xmlns:a16="http://schemas.microsoft.com/office/drawing/2014/main" val="2829666176"/>
                    </a:ext>
                  </a:extLst>
                </a:gridCol>
              </a:tblGrid>
              <a:tr h="362796">
                <a:tc>
                  <a:txBody>
                    <a:bodyPr/>
                    <a:lstStyle/>
                    <a:p>
                      <a:pPr algn="ctr"/>
                      <a:r>
                        <a:rPr lang="en-US" b="1" dirty="0">
                          <a:solidFill>
                            <a:schemeClr val="bg2"/>
                          </a:solidFill>
                        </a:rPr>
                        <a:t>NAME</a:t>
                      </a:r>
                      <a:endParaRPr lang="en-IN" b="1" dirty="0">
                        <a:solidFill>
                          <a:schemeClr val="bg2"/>
                        </a:solidFill>
                      </a:endParaRPr>
                    </a:p>
                  </a:txBody>
                  <a:tcPr/>
                </a:tc>
                <a:tc>
                  <a:txBody>
                    <a:bodyPr/>
                    <a:lstStyle/>
                    <a:p>
                      <a:pPr algn="ctr"/>
                      <a:r>
                        <a:rPr lang="en-US" b="1" dirty="0">
                          <a:solidFill>
                            <a:schemeClr val="bg2"/>
                          </a:solidFill>
                        </a:rPr>
                        <a:t>ROLL_NO</a:t>
                      </a:r>
                      <a:endParaRPr lang="en-IN" b="1" dirty="0">
                        <a:solidFill>
                          <a:schemeClr val="bg2"/>
                        </a:solidFill>
                      </a:endParaRPr>
                    </a:p>
                  </a:txBody>
                  <a:tcPr/>
                </a:tc>
                <a:extLst>
                  <a:ext uri="{0D108BD9-81ED-4DB2-BD59-A6C34878D82A}">
                    <a16:rowId xmlns:a16="http://schemas.microsoft.com/office/drawing/2014/main" val="3673013183"/>
                  </a:ext>
                </a:extLst>
              </a:tr>
              <a:tr h="362796">
                <a:tc>
                  <a:txBody>
                    <a:bodyPr/>
                    <a:lstStyle/>
                    <a:p>
                      <a:pPr algn="ctr"/>
                      <a:r>
                        <a:rPr lang="en-US" b="1" dirty="0"/>
                        <a:t>S SANDEEP KUMAR</a:t>
                      </a:r>
                      <a:endParaRPr lang="en-IN" b="1" dirty="0"/>
                    </a:p>
                  </a:txBody>
                  <a:tcPr/>
                </a:tc>
                <a:tc>
                  <a:txBody>
                    <a:bodyPr/>
                    <a:lstStyle/>
                    <a:p>
                      <a:pPr algn="ctr"/>
                      <a:r>
                        <a:rPr lang="en-US" b="1" dirty="0"/>
                        <a:t>20221CSG0136</a:t>
                      </a:r>
                      <a:endParaRPr lang="en-IN" b="1" dirty="0"/>
                    </a:p>
                  </a:txBody>
                  <a:tcPr/>
                </a:tc>
                <a:extLst>
                  <a:ext uri="{0D108BD9-81ED-4DB2-BD59-A6C34878D82A}">
                    <a16:rowId xmlns:a16="http://schemas.microsoft.com/office/drawing/2014/main" val="2046283524"/>
                  </a:ext>
                </a:extLst>
              </a:tr>
              <a:tr h="362796">
                <a:tc>
                  <a:txBody>
                    <a:bodyPr/>
                    <a:lstStyle/>
                    <a:p>
                      <a:pPr algn="ctr"/>
                      <a:r>
                        <a:rPr lang="en-US" b="1" dirty="0"/>
                        <a:t>YOGESH</a:t>
                      </a:r>
                      <a:endParaRPr lang="en-IN" b="1"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1" dirty="0"/>
                        <a:t>20221CS0G128</a:t>
                      </a:r>
                      <a:endParaRPr lang="en-IN" b="1" dirty="0"/>
                    </a:p>
                  </a:txBody>
                  <a:tcPr/>
                </a:tc>
                <a:extLst>
                  <a:ext uri="{0D108BD9-81ED-4DB2-BD59-A6C34878D82A}">
                    <a16:rowId xmlns:a16="http://schemas.microsoft.com/office/drawing/2014/main" val="1015371901"/>
                  </a:ext>
                </a:extLst>
              </a:tr>
              <a:tr h="362796">
                <a:tc>
                  <a:txBody>
                    <a:bodyPr/>
                    <a:lstStyle/>
                    <a:p>
                      <a:pPr algn="ctr"/>
                      <a:r>
                        <a:rPr lang="en-US" b="1" dirty="0"/>
                        <a:t>L PRAJWAL</a:t>
                      </a:r>
                      <a:endParaRPr lang="en-IN" b="1"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1" dirty="0"/>
                        <a:t>20221CS0G161</a:t>
                      </a:r>
                      <a:endParaRPr lang="en-IN" b="1" dirty="0"/>
                    </a:p>
                  </a:txBody>
                  <a:tcPr/>
                </a:tc>
                <a:extLst>
                  <a:ext uri="{0D108BD9-81ED-4DB2-BD59-A6C34878D82A}">
                    <a16:rowId xmlns:a16="http://schemas.microsoft.com/office/drawing/2014/main" val="312062849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46767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US" sz="2000" dirty="0">
                <a:latin typeface="+mn-lt"/>
                <a:ea typeface="Cambria" panose="02040503050406030204" pitchFamily="18" charset="0"/>
              </a:rPr>
              <a:t>DETAILS</a:t>
            </a:r>
            <a:endParaRPr sz="2000" dirty="0">
              <a:latin typeface="+mn-lt"/>
              <a:ea typeface="Cambria" panose="02040503050406030204" pitchFamily="18" charset="0"/>
            </a:endParaRPr>
          </a:p>
        </p:txBody>
      </p:sp>
      <p:sp>
        <p:nvSpPr>
          <p:cNvPr id="97" name="Google Shape;97;p14"/>
          <p:cNvSpPr txBox="1">
            <a:spLocks noGrp="1"/>
          </p:cNvSpPr>
          <p:nvPr>
            <p:ph type="body" idx="1"/>
          </p:nvPr>
        </p:nvSpPr>
        <p:spPr>
          <a:xfrm>
            <a:off x="243840" y="1143001"/>
            <a:ext cx="11948160" cy="3246119"/>
          </a:xfrm>
          <a:prstGeom prst="rect">
            <a:avLst/>
          </a:prstGeom>
          <a:noFill/>
          <a:ln>
            <a:noFill/>
          </a:ln>
        </p:spPr>
        <p:txBody>
          <a:bodyPr spcFirstLastPara="1" wrap="square" lIns="91425" tIns="45700" rIns="91425" bIns="45700" anchor="t" anchorCtr="0">
            <a:noAutofit/>
          </a:bodyPr>
          <a:lstStyle/>
          <a:p>
            <a:pPr marL="342900" lvl="0" indent="-190500">
              <a:spcBef>
                <a:spcPts val="0"/>
              </a:spcBef>
              <a:buNone/>
            </a:pPr>
            <a:r>
              <a:rPr lang="en-US" sz="2000" b="1" dirty="0">
                <a:solidFill>
                  <a:schemeClr val="bg2"/>
                </a:solidFill>
                <a:latin typeface="+mn-lt"/>
                <a:ea typeface="Cambria" panose="02040503050406030204" pitchFamily="18" charset="0"/>
                <a:cs typeface="Times New Roman" panose="02020603050405020304" pitchFamily="18" charset="0"/>
              </a:rPr>
              <a:t>Organization:</a:t>
            </a:r>
            <a:r>
              <a:rPr lang="en-US" sz="2000" b="1" dirty="0">
                <a:latin typeface="+mn-lt"/>
                <a:ea typeface="Cambria" panose="02040503050406030204" pitchFamily="18" charset="0"/>
                <a:cs typeface="Times New Roman" panose="02020603050405020304" pitchFamily="18" charset="0"/>
              </a:rPr>
              <a:t> </a:t>
            </a:r>
            <a:r>
              <a:rPr lang="en-US" sz="2000" b="1" dirty="0">
                <a:solidFill>
                  <a:schemeClr val="tx1"/>
                </a:solidFill>
                <a:latin typeface="+mn-lt"/>
                <a:ea typeface="Cambria" panose="02040503050406030204" pitchFamily="18" charset="0"/>
                <a:cs typeface="Times New Roman" panose="02020603050405020304" pitchFamily="18" charset="0"/>
              </a:rPr>
              <a:t>National Technical Research </a:t>
            </a:r>
            <a:r>
              <a:rPr lang="en-US" sz="2000" b="1" dirty="0" err="1">
                <a:solidFill>
                  <a:schemeClr val="tx1"/>
                </a:solidFill>
                <a:latin typeface="+mn-lt"/>
                <a:ea typeface="Cambria" panose="02040503050406030204" pitchFamily="18" charset="0"/>
                <a:cs typeface="Times New Roman" panose="02020603050405020304" pitchFamily="18" charset="0"/>
              </a:rPr>
              <a:t>Organisation</a:t>
            </a:r>
            <a:r>
              <a:rPr lang="en-US" sz="2000" b="1" dirty="0">
                <a:solidFill>
                  <a:schemeClr val="tx1"/>
                </a:solidFill>
                <a:latin typeface="+mn-lt"/>
                <a:ea typeface="Cambria" panose="02040503050406030204" pitchFamily="18" charset="0"/>
                <a:cs typeface="Times New Roman" panose="02020603050405020304" pitchFamily="18" charset="0"/>
              </a:rPr>
              <a:t> (NTRO)</a:t>
            </a:r>
          </a:p>
          <a:p>
            <a:pPr marL="342900" lvl="0" indent="-190500">
              <a:lnSpc>
                <a:spcPct val="200000"/>
              </a:lnSpc>
              <a:spcBef>
                <a:spcPts val="0"/>
              </a:spcBef>
              <a:buNone/>
            </a:pPr>
            <a:r>
              <a:rPr lang="en-US" sz="2000" b="1" dirty="0">
                <a:solidFill>
                  <a:schemeClr val="bg2"/>
                </a:solidFill>
                <a:latin typeface="+mn-lt"/>
                <a:ea typeface="Cambria" panose="02040503050406030204" pitchFamily="18" charset="0"/>
                <a:cs typeface="Times New Roman" panose="02020603050405020304" pitchFamily="18" charset="0"/>
              </a:rPr>
              <a:t>Category: </a:t>
            </a:r>
            <a:r>
              <a:rPr lang="en-US" sz="2000" b="1" dirty="0">
                <a:solidFill>
                  <a:schemeClr val="tx1"/>
                </a:solidFill>
                <a:latin typeface="+mn-lt"/>
                <a:ea typeface="Cambria" panose="02040503050406030204" pitchFamily="18" charset="0"/>
                <a:cs typeface="Times New Roman" panose="02020603050405020304" pitchFamily="18" charset="0"/>
              </a:rPr>
              <a:t>Software.</a:t>
            </a:r>
          </a:p>
          <a:p>
            <a:pPr marL="342900" lvl="0" indent="-190500">
              <a:lnSpc>
                <a:spcPct val="200000"/>
              </a:lnSpc>
              <a:spcBef>
                <a:spcPts val="0"/>
              </a:spcBef>
              <a:buNone/>
            </a:pPr>
            <a:r>
              <a:rPr lang="en-US" sz="2000" b="1" dirty="0">
                <a:solidFill>
                  <a:schemeClr val="bg2"/>
                </a:solidFill>
                <a:latin typeface="+mn-lt"/>
                <a:ea typeface="Cambria" panose="02040503050406030204" pitchFamily="18" charset="0"/>
                <a:cs typeface="Times New Roman" panose="02020603050405020304" pitchFamily="18" charset="0"/>
              </a:rPr>
              <a:t>Problem Description</a:t>
            </a:r>
            <a:r>
              <a:rPr lang="en-US" sz="2000" b="1" dirty="0">
                <a:latin typeface="+mn-lt"/>
                <a:ea typeface="Cambria" panose="02040503050406030204" pitchFamily="18" charset="0"/>
                <a:cs typeface="Times New Roman" panose="02020603050405020304" pitchFamily="18" charset="0"/>
              </a:rPr>
              <a:t>:</a:t>
            </a:r>
          </a:p>
          <a:p>
            <a:pPr marL="323850" indent="-171450">
              <a:spcBef>
                <a:spcPts val="0"/>
              </a:spcBef>
            </a:pPr>
            <a:r>
              <a:rPr lang="en-US" sz="2000" dirty="0">
                <a:latin typeface="+mn-lt"/>
                <a:cs typeface="Times New Roman" panose="02020603050405020304" pitchFamily="18" charset="0"/>
              </a:rPr>
              <a:t>This project is the development and evaluation of an AI/ML solution to detect </a:t>
            </a:r>
            <a:r>
              <a:rPr lang="en-US" sz="2000" b="1" dirty="0">
                <a:latin typeface="+mn-lt"/>
                <a:cs typeface="Times New Roman" panose="02020603050405020304" pitchFamily="18" charset="0"/>
              </a:rPr>
              <a:t>face-swap deepfake videos</a:t>
            </a:r>
            <a:r>
              <a:rPr lang="en-US" sz="2000" dirty="0">
                <a:latin typeface="+mn-lt"/>
                <a:cs typeface="Times New Roman" panose="02020603050405020304" pitchFamily="18" charset="0"/>
              </a:rPr>
              <a:t>, focusing on a </a:t>
            </a:r>
            <a:r>
              <a:rPr lang="en-US" sz="2000" b="1" dirty="0">
                <a:latin typeface="+mn-lt"/>
                <a:cs typeface="Times New Roman" panose="02020603050405020304" pitchFamily="18" charset="0"/>
              </a:rPr>
              <a:t>Recurrent Convolutional Strategy</a:t>
            </a:r>
            <a:r>
              <a:rPr lang="en-US" sz="2000" dirty="0">
                <a:latin typeface="+mn-lt"/>
                <a:cs typeface="Times New Roman" panose="02020603050405020304" pitchFamily="18" charset="0"/>
              </a:rPr>
              <a:t>.</a:t>
            </a:r>
          </a:p>
          <a:p>
            <a:pPr marL="152400" indent="0">
              <a:spcBef>
                <a:spcPts val="0"/>
              </a:spcBef>
              <a:buNone/>
            </a:pPr>
            <a:endParaRPr lang="en-US" sz="2000" dirty="0">
              <a:latin typeface="+mn-lt"/>
              <a:cs typeface="Times New Roman" panose="02020603050405020304" pitchFamily="18" charset="0"/>
            </a:endParaRPr>
          </a:p>
          <a:p>
            <a:pPr marL="438150" indent="-285750">
              <a:spcBef>
                <a:spcPts val="0"/>
              </a:spcBef>
            </a:pPr>
            <a:r>
              <a:rPr lang="en-US" sz="2000" dirty="0">
                <a:latin typeface="+mn-lt"/>
                <a:cs typeface="Times New Roman" panose="02020603050405020304" pitchFamily="18" charset="0"/>
              </a:rPr>
              <a:t>The core of the project is a </a:t>
            </a:r>
            <a:r>
              <a:rPr lang="en-US" sz="2000" b="1" dirty="0">
                <a:latin typeface="+mn-lt"/>
                <a:cs typeface="Times New Roman" panose="02020603050405020304" pitchFamily="18" charset="0"/>
              </a:rPr>
              <a:t>hybrid CNN-LSTM model</a:t>
            </a:r>
            <a:r>
              <a:rPr lang="en-US" sz="2000" dirty="0">
                <a:latin typeface="+mn-lt"/>
                <a:cs typeface="Times New Roman" panose="02020603050405020304" pitchFamily="18" charset="0"/>
              </a:rPr>
              <a:t> designed to analyze videos for both </a:t>
            </a:r>
            <a:r>
              <a:rPr lang="en-US" sz="2000" b="1" dirty="0">
                <a:latin typeface="+mn-lt"/>
                <a:cs typeface="Times New Roman" panose="02020603050405020304" pitchFamily="18" charset="0"/>
              </a:rPr>
              <a:t>spatial artifacts</a:t>
            </a:r>
            <a:r>
              <a:rPr lang="en-US" sz="2000" dirty="0">
                <a:latin typeface="+mn-lt"/>
                <a:cs typeface="Times New Roman" panose="02020603050405020304" pitchFamily="18" charset="0"/>
              </a:rPr>
              <a:t> (like unnatural textures in a single frame) and </a:t>
            </a:r>
            <a:r>
              <a:rPr lang="en-US" sz="2000" b="1" dirty="0">
                <a:latin typeface="+mn-lt"/>
                <a:cs typeface="Times New Roman" panose="02020603050405020304" pitchFamily="18" charset="0"/>
              </a:rPr>
              <a:t>temporal inconsistencies</a:t>
            </a:r>
            <a:r>
              <a:rPr lang="en-US" sz="2000" dirty="0">
                <a:latin typeface="+mn-lt"/>
                <a:cs typeface="Times New Roman" panose="02020603050405020304" pitchFamily="18" charset="0"/>
              </a:rPr>
              <a:t> (like flawed blinking patterns over time).</a:t>
            </a:r>
          </a:p>
          <a:p>
            <a:pPr marL="152400" indent="0">
              <a:spcBef>
                <a:spcPts val="0"/>
              </a:spcBef>
              <a:buNone/>
            </a:pPr>
            <a:endParaRPr lang="en-US" sz="2000" dirty="0">
              <a:latin typeface="+mn-lt"/>
              <a:cs typeface="Times New Roman" panose="02020603050405020304" pitchFamily="18" charset="0"/>
            </a:endParaRPr>
          </a:p>
          <a:p>
            <a:pPr marL="438150" indent="-285750">
              <a:spcBef>
                <a:spcPts val="0"/>
              </a:spcBef>
            </a:pPr>
            <a:r>
              <a:rPr lang="en-US" sz="2000" dirty="0">
                <a:latin typeface="+mn-lt"/>
                <a:cs typeface="Times New Roman" panose="02020603050405020304" pitchFamily="18" charset="0"/>
              </a:rPr>
              <a:t>The models will be trained and tested on challenging public datasets like </a:t>
            </a:r>
            <a:r>
              <a:rPr lang="en-US" sz="2000" b="1" dirty="0" err="1">
                <a:latin typeface="+mn-lt"/>
                <a:cs typeface="Times New Roman" panose="02020603050405020304" pitchFamily="18" charset="0"/>
              </a:rPr>
              <a:t>FaceForensics</a:t>
            </a:r>
            <a:r>
              <a:rPr lang="en-US" sz="2000" b="1" dirty="0">
                <a:latin typeface="+mn-lt"/>
                <a:cs typeface="Times New Roman" panose="02020603050405020304" pitchFamily="18" charset="0"/>
              </a:rPr>
              <a:t>++</a:t>
            </a:r>
            <a:r>
              <a:rPr lang="en-US" sz="2000" dirty="0">
                <a:latin typeface="+mn-lt"/>
                <a:cs typeface="Times New Roman" panose="02020603050405020304" pitchFamily="18" charset="0"/>
              </a:rPr>
              <a:t> and </a:t>
            </a:r>
            <a:r>
              <a:rPr lang="en-US" sz="2000" b="1" dirty="0">
                <a:latin typeface="+mn-lt"/>
                <a:cs typeface="Times New Roman" panose="02020603050405020304" pitchFamily="18" charset="0"/>
              </a:rPr>
              <a:t>Celeb-DF</a:t>
            </a:r>
            <a:r>
              <a:rPr lang="en-US" sz="2000" dirty="0">
                <a:latin typeface="+mn-lt"/>
                <a:cs typeface="Times New Roman" panose="02020603050405020304" pitchFamily="18" charset="0"/>
              </a:rPr>
              <a:t>, with the ultimate aim of demonstrating the superior effectiveness of a </a:t>
            </a:r>
            <a:r>
              <a:rPr lang="en-US" sz="2000" dirty="0" err="1">
                <a:latin typeface="+mn-lt"/>
                <a:cs typeface="Times New Roman" panose="02020603050405020304" pitchFamily="18" charset="0"/>
              </a:rPr>
              <a:t>spatio</a:t>
            </a:r>
            <a:r>
              <a:rPr lang="en-US" sz="2000" dirty="0">
                <a:latin typeface="+mn-lt"/>
                <a:cs typeface="Times New Roman" panose="02020603050405020304" pitchFamily="18" charset="0"/>
              </a:rPr>
              <a:t>-temporal model in combating sophisticated digital forgeries.</a:t>
            </a:r>
            <a:endParaRPr lang="en-US" sz="2000" dirty="0">
              <a:latin typeface="+mn-lt"/>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680720" y="386398"/>
            <a:ext cx="1080008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sz="2000" dirty="0">
                <a:latin typeface="+mn-lt"/>
                <a:cs typeface="Times New Roman" panose="02020603050405020304" pitchFamily="18" charset="0"/>
              </a:rPr>
              <a:t>Problem Statement</a:t>
            </a:r>
            <a:endParaRPr lang="en-US" sz="2000" dirty="0">
              <a:latin typeface="+mn-lt"/>
              <a:ea typeface="Cambria" panose="020405030504060302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2DC3A957-14A2-574C-561A-D0D1A1A8C9E6}"/>
              </a:ext>
            </a:extLst>
          </p:cNvPr>
          <p:cNvSpPr>
            <a:spLocks noChangeArrowheads="1"/>
          </p:cNvSpPr>
          <p:nvPr/>
        </p:nvSpPr>
        <p:spPr bwMode="auto">
          <a:xfrm>
            <a:off x="762000" y="1152862"/>
            <a:ext cx="106680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sz="2000" b="1" dirty="0">
                <a:latin typeface="+mn-lt"/>
                <a:cs typeface="Times New Roman" panose="02020603050405020304" pitchFamily="18" charset="0"/>
              </a:rPr>
              <a:t>The Challenge of Hyper-Realistic Deepfakes</a:t>
            </a:r>
          </a:p>
          <a:p>
            <a:pPr lvl="0" eaLnBrk="0" fontAlgn="base" hangingPunct="0">
              <a:spcBef>
                <a:spcPct val="0"/>
              </a:spcBef>
              <a:spcAft>
                <a:spcPct val="0"/>
              </a:spcAft>
              <a:buClrTx/>
            </a:pPr>
            <a:endParaRPr lang="en-US" sz="2000" b="1" dirty="0">
              <a:latin typeface="+mn-lt"/>
              <a:cs typeface="Times New Roman" panose="02020603050405020304" pitchFamily="18" charset="0"/>
            </a:endParaRPr>
          </a:p>
          <a:p>
            <a:pPr lvl="0" eaLnBrk="0" fontAlgn="base" hangingPunct="0">
              <a:spcBef>
                <a:spcPct val="0"/>
              </a:spcBef>
              <a:spcAft>
                <a:spcPct val="0"/>
              </a:spcAft>
              <a:buClrTx/>
            </a:pPr>
            <a:r>
              <a:rPr lang="en-US" sz="2000" b="1" dirty="0">
                <a:latin typeface="+mn-lt"/>
                <a:cs typeface="Times New Roman" panose="02020603050405020304" pitchFamily="18" charset="0"/>
              </a:rPr>
              <a:t>(</a:t>
            </a:r>
            <a:r>
              <a:rPr lang="en-US" sz="2000" dirty="0">
                <a:latin typeface="+mn-lt"/>
                <a:ea typeface="Cambria" panose="02040503050406030204" pitchFamily="18" charset="0"/>
                <a:cs typeface="Times New Roman" panose="02020603050405020304" pitchFamily="18" charset="0"/>
              </a:rPr>
              <a:t>problem statement number:</a:t>
            </a:r>
            <a:r>
              <a:rPr lang="en-IN" sz="2000" b="1" dirty="0">
                <a:latin typeface="+mn-lt"/>
                <a:ea typeface="Cambria" panose="02040503050406030204" pitchFamily="18" charset="0"/>
                <a:cs typeface="Times New Roman" panose="02020603050405020304" pitchFamily="18" charset="0"/>
              </a:rPr>
              <a:t>PSCS_314</a:t>
            </a:r>
            <a:r>
              <a:rPr lang="en-US" sz="2000" b="1" dirty="0">
                <a:latin typeface="+mn-lt"/>
                <a:cs typeface="Times New Roman" panose="02020603050405020304" pitchFamily="18" charset="0"/>
              </a:rPr>
              <a:t>)</a:t>
            </a:r>
          </a:p>
          <a:p>
            <a:pPr lvl="0" eaLnBrk="0" fontAlgn="base" hangingPunct="0">
              <a:spcBef>
                <a:spcPct val="0"/>
              </a:spcBef>
              <a:spcAft>
                <a:spcPct val="0"/>
              </a:spcAft>
              <a:buClrTx/>
            </a:pPr>
            <a:endParaRPr kumimoji="0" lang="en-US" altLang="en-US" sz="2000" b="0" i="0" u="none" strike="noStrike" cap="none" normalizeH="0" baseline="0" dirty="0">
              <a:ln>
                <a:noFill/>
              </a:ln>
              <a:solidFill>
                <a:schemeClr val="tx1"/>
              </a:solidFill>
              <a:effectLst/>
              <a:latin typeface="+mn-lt"/>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n-lt"/>
                <a:cs typeface="Times New Roman" panose="02020603050405020304" pitchFamily="18" charset="0"/>
              </a:rPr>
              <a:t>The rapid rise of Generative AI has enabled the creation of hyper-realistic </a:t>
            </a:r>
            <a:r>
              <a:rPr kumimoji="0" lang="en-US" altLang="en-US" sz="2000" b="1" i="0" u="none" strike="noStrike" cap="none" normalizeH="0" baseline="0" dirty="0">
                <a:ln>
                  <a:noFill/>
                </a:ln>
                <a:solidFill>
                  <a:schemeClr val="tx1"/>
                </a:solidFill>
                <a:effectLst/>
                <a:latin typeface="+mn-lt"/>
                <a:cs typeface="Times New Roman" panose="02020603050405020304" pitchFamily="18" charset="0"/>
              </a:rPr>
              <a:t>face-swap deepfake videos</a:t>
            </a:r>
            <a:r>
              <a:rPr kumimoji="0" lang="en-US" altLang="en-US" sz="2000" b="0" i="0" u="none" strike="noStrike" cap="none" normalizeH="0" baseline="0" dirty="0">
                <a:ln>
                  <a:noFill/>
                </a:ln>
                <a:solidFill>
                  <a:schemeClr val="tx1"/>
                </a:solidFill>
                <a:effectLst/>
                <a:latin typeface="+mn-lt"/>
                <a:cs typeface="Times New Roman" panose="02020603050405020304" pitchFamily="18" charset="0"/>
              </a:rPr>
              <a:t>, blurring the line between authentic and synthetic media.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mn-lt"/>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n-lt"/>
                <a:cs typeface="Times New Roman" panose="02020603050405020304" pitchFamily="18" charset="0"/>
              </a:rPr>
              <a:t>This technology poses a severe threat to society through </a:t>
            </a:r>
            <a:r>
              <a:rPr kumimoji="0" lang="en-US" altLang="en-US" sz="2000" b="1" i="0" u="none" strike="noStrike" cap="none" normalizeH="0" baseline="0" dirty="0">
                <a:ln>
                  <a:noFill/>
                </a:ln>
                <a:solidFill>
                  <a:schemeClr val="tx1"/>
                </a:solidFill>
                <a:effectLst/>
                <a:latin typeface="+mn-lt"/>
                <a:cs typeface="Times New Roman" panose="02020603050405020304" pitchFamily="18" charset="0"/>
              </a:rPr>
              <a:t>political disinformation, financial fraud, and personal defamation</a:t>
            </a:r>
            <a:r>
              <a:rPr kumimoji="0" lang="en-US" altLang="en-US" sz="2000" b="0" i="0" u="none" strike="noStrike" cap="none" normalizeH="0" baseline="0" dirty="0">
                <a:ln>
                  <a:noFill/>
                </a:ln>
                <a:solidFill>
                  <a:schemeClr val="tx1"/>
                </a:solidFill>
                <a:effectLst/>
                <a:latin typeface="+mn-lt"/>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mn-lt"/>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n-lt"/>
                <a:cs typeface="Times New Roman" panose="02020603050405020304" pitchFamily="18" charset="0"/>
              </a:rPr>
              <a:t>Existing detection methods often fail to generalize against new forgery techniques and struggle to identify subtle </a:t>
            </a:r>
            <a:r>
              <a:rPr kumimoji="0" lang="en-US" altLang="en-US" sz="2000" b="1" i="0" u="none" strike="noStrike" cap="none" normalizeH="0" baseline="0" dirty="0">
                <a:ln>
                  <a:noFill/>
                </a:ln>
                <a:solidFill>
                  <a:schemeClr val="tx1"/>
                </a:solidFill>
                <a:effectLst/>
                <a:latin typeface="+mn-lt"/>
                <a:cs typeface="Times New Roman" panose="02020603050405020304" pitchFamily="18" charset="0"/>
              </a:rPr>
              <a:t>temporal inconsistencies</a:t>
            </a:r>
            <a:r>
              <a:rPr kumimoji="0" lang="en-US" altLang="en-US" sz="2000" b="0" i="0" u="none" strike="noStrike" cap="none" normalizeH="0" baseline="0" dirty="0">
                <a:ln>
                  <a:noFill/>
                </a:ln>
                <a:solidFill>
                  <a:schemeClr val="tx1"/>
                </a:solidFill>
                <a:effectLst/>
                <a:latin typeface="+mn-lt"/>
                <a:cs typeface="Times New Roman" panose="02020603050405020304" pitchFamily="18" charset="0"/>
              </a:rPr>
              <a:t> that reveal a video's true nature.</a:t>
            </a:r>
          </a:p>
        </p:txBody>
      </p:sp>
    </p:spTree>
    <p:extLst>
      <p:ext uri="{BB962C8B-B14F-4D97-AF65-F5344CB8AC3E}">
        <p14:creationId xmlns:p14="http://schemas.microsoft.com/office/powerpoint/2010/main" val="3338832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73760" y="345758"/>
            <a:ext cx="10668000" cy="487500"/>
          </a:xfrm>
          <a:prstGeom prst="rect">
            <a:avLst/>
          </a:prstGeom>
          <a:noFill/>
          <a:ln>
            <a:noFill/>
          </a:ln>
        </p:spPr>
        <p:txBody>
          <a:bodyPr spcFirstLastPara="1" wrap="square" lIns="91425" tIns="45700" rIns="91425" bIns="45700" anchor="ctr" anchorCtr="0">
            <a:noAutofit/>
          </a:bodyPr>
          <a:lstStyle/>
          <a:p>
            <a:pPr lvl="0"/>
            <a:r>
              <a:rPr lang="en-US" sz="2400" dirty="0">
                <a:latin typeface="+mn-lt"/>
                <a:ea typeface="Cambria" panose="02040503050406030204" pitchFamily="18" charset="0"/>
                <a:cs typeface="Times New Roman" panose="02020603050405020304" pitchFamily="18" charset="0"/>
              </a:rPr>
              <a:t>Index</a:t>
            </a:r>
            <a:endParaRPr sz="2400" dirty="0">
              <a:latin typeface="+mn-lt"/>
              <a:ea typeface="Cambria" panose="020405030504060302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B00377D3-6299-3F98-9A59-5EF675D00E7B}"/>
              </a:ext>
            </a:extLst>
          </p:cNvPr>
          <p:cNvSpPr>
            <a:spLocks noChangeArrowheads="1"/>
          </p:cNvSpPr>
          <p:nvPr/>
        </p:nvSpPr>
        <p:spPr bwMode="auto">
          <a:xfrm>
            <a:off x="467360" y="3467854"/>
            <a:ext cx="112369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7EEC1AD4-0F1A-D172-63EE-2E2EC9BB301C}"/>
              </a:ext>
            </a:extLst>
          </p:cNvPr>
          <p:cNvSpPr txBox="1"/>
          <p:nvPr/>
        </p:nvSpPr>
        <p:spPr>
          <a:xfrm>
            <a:off x="873760" y="1263535"/>
            <a:ext cx="4479636" cy="4093428"/>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n-lt"/>
                <a:cs typeface="Times New Roman" panose="02020603050405020304" pitchFamily="18" charset="0"/>
              </a:rPr>
              <a:t>THE PROBLEM EXPLANATION</a:t>
            </a:r>
          </a:p>
          <a:p>
            <a:pPr marL="285750" indent="-285750">
              <a:buFont typeface="Arial" panose="020B0604020202020204" pitchFamily="34" charset="0"/>
              <a:buChar char="•"/>
            </a:pPr>
            <a:r>
              <a:rPr lang="en-IN" sz="2000" dirty="0">
                <a:latin typeface="+mn-lt"/>
                <a:cs typeface="Times New Roman" panose="02020603050405020304" pitchFamily="18" charset="0"/>
              </a:rPr>
              <a:t>GAP AND OBJECTIVE</a:t>
            </a:r>
          </a:p>
          <a:p>
            <a:pPr marL="285750" indent="-285750">
              <a:buFont typeface="Arial" panose="020B0604020202020204" pitchFamily="34" charset="0"/>
              <a:buChar char="•"/>
            </a:pPr>
            <a:r>
              <a:rPr lang="en-IN" sz="2000" dirty="0">
                <a:latin typeface="+mn-lt"/>
                <a:cs typeface="Times New Roman" panose="02020603050405020304" pitchFamily="18" charset="0"/>
              </a:rPr>
              <a:t>ARCHITECTURE OVERVIEW</a:t>
            </a:r>
          </a:p>
          <a:p>
            <a:pPr marL="285750" indent="-285750">
              <a:buFont typeface="Arial" panose="020B0604020202020204" pitchFamily="34" charset="0"/>
              <a:buChar char="•"/>
            </a:pPr>
            <a:r>
              <a:rPr lang="en-IN" sz="2000" dirty="0">
                <a:latin typeface="+mn-lt"/>
                <a:cs typeface="Times New Roman" panose="02020603050405020304" pitchFamily="18" charset="0"/>
              </a:rPr>
              <a:t>DATASET AND TRAINING</a:t>
            </a:r>
          </a:p>
          <a:p>
            <a:pPr marL="285750" indent="-285750">
              <a:buFont typeface="Arial" panose="020B0604020202020204" pitchFamily="34" charset="0"/>
              <a:buChar char="•"/>
            </a:pPr>
            <a:r>
              <a:rPr lang="en-IN" sz="2000" dirty="0">
                <a:latin typeface="+mn-lt"/>
                <a:cs typeface="Times New Roman" panose="02020603050405020304" pitchFamily="18" charset="0"/>
              </a:rPr>
              <a:t>CORE METHODOLOGY</a:t>
            </a:r>
          </a:p>
          <a:p>
            <a:pPr marL="285750" indent="-285750">
              <a:buFont typeface="Arial" panose="020B0604020202020204" pitchFamily="34" charset="0"/>
              <a:buChar char="•"/>
            </a:pPr>
            <a:r>
              <a:rPr lang="en-IN" sz="2000" dirty="0">
                <a:latin typeface="+mn-lt"/>
                <a:cs typeface="Times New Roman" panose="02020603050405020304" pitchFamily="18" charset="0"/>
              </a:rPr>
              <a:t>EXPLAINABILITY</a:t>
            </a:r>
          </a:p>
          <a:p>
            <a:pPr marL="285750" indent="-285750">
              <a:buFont typeface="Arial" panose="020B0604020202020204" pitchFamily="34" charset="0"/>
              <a:buChar char="•"/>
            </a:pPr>
            <a:r>
              <a:rPr lang="en-IN" sz="2000" dirty="0">
                <a:latin typeface="+mn-lt"/>
                <a:cs typeface="Times New Roman" panose="02020603050405020304" pitchFamily="18" charset="0"/>
              </a:rPr>
              <a:t>RESULTS</a:t>
            </a:r>
          </a:p>
          <a:p>
            <a:pPr marL="285750" indent="-285750">
              <a:buFont typeface="Arial" panose="020B0604020202020204" pitchFamily="34" charset="0"/>
              <a:buChar char="•"/>
            </a:pPr>
            <a:r>
              <a:rPr lang="en-IN" sz="2000" dirty="0">
                <a:latin typeface="+mn-lt"/>
                <a:cs typeface="Times New Roman" panose="02020603050405020304" pitchFamily="18" charset="0"/>
              </a:rPr>
              <a:t>APPLICATION AND ETHICS</a:t>
            </a:r>
          </a:p>
          <a:p>
            <a:pPr marL="285750" indent="-285750">
              <a:buFont typeface="Arial" panose="020B0604020202020204" pitchFamily="34" charset="0"/>
              <a:buChar char="•"/>
            </a:pPr>
            <a:r>
              <a:rPr lang="en-IN" sz="2000" dirty="0">
                <a:latin typeface="+mn-lt"/>
                <a:cs typeface="Times New Roman" panose="02020603050405020304" pitchFamily="18" charset="0"/>
              </a:rPr>
              <a:t>CONCLUSION</a:t>
            </a:r>
          </a:p>
          <a:p>
            <a:pPr marL="285750" indent="-285750">
              <a:buFont typeface="Arial" panose="020B0604020202020204" pitchFamily="34" charset="0"/>
              <a:buChar char="•"/>
            </a:pPr>
            <a:r>
              <a:rPr lang="en-IN" sz="2000" dirty="0">
                <a:latin typeface="+mn-lt"/>
                <a:cs typeface="Times New Roman" panose="02020603050405020304" pitchFamily="18" charset="0"/>
              </a:rPr>
              <a:t>GANTT CHART</a:t>
            </a:r>
          </a:p>
          <a:p>
            <a:pPr marL="285750" indent="-285750">
              <a:buFont typeface="Arial" panose="020B0604020202020204" pitchFamily="34" charset="0"/>
              <a:buChar char="•"/>
            </a:pPr>
            <a:r>
              <a:rPr lang="en-IN" sz="2000" dirty="0">
                <a:latin typeface="+mn-lt"/>
                <a:cs typeface="Times New Roman" panose="02020603050405020304" pitchFamily="18" charset="0"/>
              </a:rPr>
              <a:t>REFERENCES</a:t>
            </a:r>
          </a:p>
          <a:p>
            <a:pPr marL="285750" indent="-285750">
              <a:buFont typeface="Arial" panose="020B0604020202020204" pitchFamily="34" charset="0"/>
              <a:buChar char="•"/>
            </a:pPr>
            <a:r>
              <a:rPr lang="en-IN" sz="2000" dirty="0">
                <a:latin typeface="+mn-lt"/>
                <a:cs typeface="Times New Roman" panose="02020603050405020304" pitchFamily="18" charset="0"/>
              </a:rPr>
              <a:t>GITHUB LINK</a:t>
            </a:r>
            <a:br>
              <a:rPr lang="en-IN" sz="2000" dirty="0">
                <a:latin typeface="+mn-lt"/>
                <a:cs typeface="Times New Roman" panose="02020603050405020304" pitchFamily="18" charset="0"/>
              </a:rPr>
            </a:br>
            <a:endParaRPr lang="en-IN" sz="2000" dirty="0">
              <a:latin typeface="+mn-lt"/>
              <a:cs typeface="Times New Roman" panose="020206030504050203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EC5C7DC8-57E7-9C7E-90EE-46F5CB1903CE}"/>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3138912E-7E1E-9351-E56C-28A08B53B714}"/>
              </a:ext>
            </a:extLst>
          </p:cNvPr>
          <p:cNvSpPr txBox="1">
            <a:spLocks noGrp="1"/>
          </p:cNvSpPr>
          <p:nvPr>
            <p:ph type="title"/>
          </p:nvPr>
        </p:nvSpPr>
        <p:spPr>
          <a:xfrm>
            <a:off x="873760" y="345758"/>
            <a:ext cx="10668000" cy="487500"/>
          </a:xfrm>
          <a:prstGeom prst="rect">
            <a:avLst/>
          </a:prstGeom>
          <a:noFill/>
          <a:ln>
            <a:noFill/>
          </a:ln>
        </p:spPr>
        <p:txBody>
          <a:bodyPr spcFirstLastPara="1" wrap="square" lIns="91425" tIns="45700" rIns="91425" bIns="45700" anchor="ctr" anchorCtr="0">
            <a:noAutofit/>
          </a:bodyPr>
          <a:lstStyle/>
          <a:p>
            <a:r>
              <a:rPr lang="en-IN" sz="2400" dirty="0">
                <a:latin typeface="+mn-lt"/>
                <a:cs typeface="Times New Roman" panose="02020603050405020304" pitchFamily="18" charset="0"/>
              </a:rPr>
              <a:t>THE PROBLEM EXPLANATION</a:t>
            </a:r>
            <a:endParaRPr sz="2400" dirty="0">
              <a:latin typeface="+mn-lt"/>
              <a:ea typeface="Cambria" panose="020405030504060302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406E7BFE-4B5B-7E00-AC12-5A75FFC6C8E1}"/>
              </a:ext>
            </a:extLst>
          </p:cNvPr>
          <p:cNvSpPr>
            <a:spLocks noChangeArrowheads="1"/>
          </p:cNvSpPr>
          <p:nvPr/>
        </p:nvSpPr>
        <p:spPr bwMode="auto">
          <a:xfrm>
            <a:off x="467360" y="3467854"/>
            <a:ext cx="112369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5C67AE73-F68D-72D4-87C3-47BC542EB0FE}"/>
              </a:ext>
            </a:extLst>
          </p:cNvPr>
          <p:cNvSpPr txBox="1"/>
          <p:nvPr/>
        </p:nvSpPr>
        <p:spPr>
          <a:xfrm>
            <a:off x="873759" y="1263535"/>
            <a:ext cx="9949411" cy="1938992"/>
          </a:xfrm>
          <a:prstGeom prst="rect">
            <a:avLst/>
          </a:prstGeom>
          <a:noFill/>
        </p:spPr>
        <p:txBody>
          <a:bodyPr wrap="square" rtlCol="0">
            <a:spAutoFit/>
          </a:bodyPr>
          <a:lstStyle/>
          <a:p>
            <a:r>
              <a:rPr lang="en-US" sz="2000" dirty="0">
                <a:latin typeface="+mn-lt"/>
                <a:cs typeface="Times New Roman" panose="02020603050405020304" pitchFamily="18" charset="0"/>
              </a:rPr>
              <a:t>Deepfakes are now used primarily for malicious purposes. They accelerate misinformation, fuel political manipulation, enable financial scams, and support identity theft. Most current detectors can classify deepfakes accurately, but they fail to provide any justification or visual evidence. As a result, they cannot be trusted in legal or forensic settings. The scale of the threat has surged dramatically, with deepfake content growing more than five times between 2019 and 2023.</a:t>
            </a:r>
            <a:endParaRPr lang="en-IN" sz="2000" dirty="0">
              <a:latin typeface="+mn-lt"/>
              <a:cs typeface="Times New Roman" panose="02020603050405020304" pitchFamily="18" charset="0"/>
            </a:endParaRPr>
          </a:p>
        </p:txBody>
      </p:sp>
    </p:spTree>
    <p:extLst>
      <p:ext uri="{BB962C8B-B14F-4D97-AF65-F5344CB8AC3E}">
        <p14:creationId xmlns:p14="http://schemas.microsoft.com/office/powerpoint/2010/main" val="3311309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B8A395F2-35E5-BC53-7ACD-0C7CA7304795}"/>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519AA2B2-CAF5-E806-F253-1880D411E224}"/>
              </a:ext>
            </a:extLst>
          </p:cNvPr>
          <p:cNvSpPr txBox="1">
            <a:spLocks noGrp="1"/>
          </p:cNvSpPr>
          <p:nvPr>
            <p:ph type="title"/>
          </p:nvPr>
        </p:nvSpPr>
        <p:spPr>
          <a:xfrm>
            <a:off x="873760" y="345758"/>
            <a:ext cx="10668000" cy="487500"/>
          </a:xfrm>
          <a:prstGeom prst="rect">
            <a:avLst/>
          </a:prstGeom>
          <a:noFill/>
          <a:ln>
            <a:noFill/>
          </a:ln>
        </p:spPr>
        <p:txBody>
          <a:bodyPr spcFirstLastPara="1" wrap="square" lIns="91425" tIns="45700" rIns="91425" bIns="45700" anchor="ctr" anchorCtr="0">
            <a:noAutofit/>
          </a:bodyPr>
          <a:lstStyle/>
          <a:p>
            <a:r>
              <a:rPr lang="en-IN" sz="2400" dirty="0">
                <a:latin typeface="+mn-lt"/>
                <a:cs typeface="Times New Roman" panose="02020603050405020304" pitchFamily="18" charset="0"/>
              </a:rPr>
              <a:t>GAP AND OBJECTIVE</a:t>
            </a:r>
            <a:endParaRPr sz="2400" dirty="0">
              <a:latin typeface="+mn-lt"/>
              <a:ea typeface="Cambria" panose="020405030504060302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7D2632D1-394E-2F85-7DC6-6431B9851457}"/>
              </a:ext>
            </a:extLst>
          </p:cNvPr>
          <p:cNvSpPr>
            <a:spLocks noChangeArrowheads="1"/>
          </p:cNvSpPr>
          <p:nvPr/>
        </p:nvSpPr>
        <p:spPr bwMode="auto">
          <a:xfrm>
            <a:off x="467360" y="3467854"/>
            <a:ext cx="112369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EDB5398D-2247-57D2-785A-6FF2E53C3203}"/>
              </a:ext>
            </a:extLst>
          </p:cNvPr>
          <p:cNvSpPr txBox="1"/>
          <p:nvPr/>
        </p:nvSpPr>
        <p:spPr>
          <a:xfrm>
            <a:off x="873759" y="1263535"/>
            <a:ext cx="9949411" cy="2246769"/>
          </a:xfrm>
          <a:prstGeom prst="rect">
            <a:avLst/>
          </a:prstGeom>
          <a:noFill/>
        </p:spPr>
        <p:txBody>
          <a:bodyPr wrap="square" rtlCol="0">
            <a:spAutoFit/>
          </a:bodyPr>
          <a:lstStyle/>
          <a:p>
            <a:r>
              <a:rPr lang="en-US" sz="2000" dirty="0">
                <a:latin typeface="+mn-lt"/>
                <a:cs typeface="Times New Roman" panose="02020603050405020304" pitchFamily="18" charset="0"/>
              </a:rPr>
              <a:t>The research gap is not performance—it is transparency. Existing systems behave like black boxes: they cannot point to manipulated areas, cannot justify their decisions, and cannot support human verification.</a:t>
            </a:r>
          </a:p>
          <a:p>
            <a:br>
              <a:rPr lang="en-US" sz="2000" dirty="0">
                <a:latin typeface="+mn-lt"/>
                <a:cs typeface="Times New Roman" panose="02020603050405020304" pitchFamily="18" charset="0"/>
              </a:rPr>
            </a:br>
            <a:r>
              <a:rPr lang="en-US" sz="2000" dirty="0">
                <a:latin typeface="+mn-lt"/>
                <a:cs typeface="Times New Roman" panose="02020603050405020304" pitchFamily="18" charset="0"/>
              </a:rPr>
              <a:t>This project aims to build a detector that both performs well and explains itself. The system achieves 88.33% classification accuracy, a ROC-AUC of 0.937, full explainability coverage, and a real-time response of under a second per video.</a:t>
            </a:r>
            <a:endParaRPr lang="en-IN" sz="2000" dirty="0">
              <a:latin typeface="+mn-lt"/>
              <a:cs typeface="Times New Roman" panose="02020603050405020304" pitchFamily="18" charset="0"/>
            </a:endParaRPr>
          </a:p>
        </p:txBody>
      </p:sp>
    </p:spTree>
    <p:extLst>
      <p:ext uri="{BB962C8B-B14F-4D97-AF65-F5344CB8AC3E}">
        <p14:creationId xmlns:p14="http://schemas.microsoft.com/office/powerpoint/2010/main" val="1278184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B49B47D-6B3F-E783-70DE-CEF525C6E34B}"/>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3AD0ADF7-79D5-1C30-AA6B-8BA3FC8063CF}"/>
              </a:ext>
            </a:extLst>
          </p:cNvPr>
          <p:cNvSpPr txBox="1">
            <a:spLocks noGrp="1"/>
          </p:cNvSpPr>
          <p:nvPr>
            <p:ph type="title"/>
          </p:nvPr>
        </p:nvSpPr>
        <p:spPr>
          <a:xfrm>
            <a:off x="873760" y="345758"/>
            <a:ext cx="10668000" cy="487500"/>
          </a:xfrm>
          <a:prstGeom prst="rect">
            <a:avLst/>
          </a:prstGeom>
          <a:noFill/>
          <a:ln>
            <a:noFill/>
          </a:ln>
        </p:spPr>
        <p:txBody>
          <a:bodyPr spcFirstLastPara="1" wrap="square" lIns="91425" tIns="45700" rIns="91425" bIns="45700" anchor="ctr" anchorCtr="0">
            <a:noAutofit/>
          </a:bodyPr>
          <a:lstStyle/>
          <a:p>
            <a:r>
              <a:rPr lang="en-IN" sz="2400" dirty="0">
                <a:latin typeface="+mn-lt"/>
                <a:cs typeface="Times New Roman" panose="02020603050405020304" pitchFamily="18" charset="0"/>
              </a:rPr>
              <a:t>ARCHITECTURE OVERVIEW</a:t>
            </a:r>
            <a:endParaRPr sz="2400" dirty="0">
              <a:latin typeface="+mn-lt"/>
              <a:ea typeface="Cambria" panose="020405030504060302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BFE02BB3-EE80-6458-22CE-922F216452C0}"/>
              </a:ext>
            </a:extLst>
          </p:cNvPr>
          <p:cNvSpPr>
            <a:spLocks noChangeArrowheads="1"/>
          </p:cNvSpPr>
          <p:nvPr/>
        </p:nvSpPr>
        <p:spPr bwMode="auto">
          <a:xfrm>
            <a:off x="467360" y="3467854"/>
            <a:ext cx="112369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03C6D0C1-2562-9A68-0739-6B642F6F9509}"/>
              </a:ext>
            </a:extLst>
          </p:cNvPr>
          <p:cNvSpPr txBox="1"/>
          <p:nvPr/>
        </p:nvSpPr>
        <p:spPr>
          <a:xfrm>
            <a:off x="873760" y="1263535"/>
            <a:ext cx="5510415" cy="3170099"/>
          </a:xfrm>
          <a:prstGeom prst="rect">
            <a:avLst/>
          </a:prstGeom>
          <a:noFill/>
        </p:spPr>
        <p:txBody>
          <a:bodyPr wrap="square" rtlCol="0">
            <a:spAutoFit/>
          </a:bodyPr>
          <a:lstStyle/>
          <a:p>
            <a:r>
              <a:rPr lang="en-US" sz="2000" dirty="0">
                <a:latin typeface="+mn-lt"/>
                <a:cs typeface="Times New Roman" panose="02020603050405020304" pitchFamily="18" charset="0"/>
              </a:rPr>
              <a:t>The pipeline begins with MTCNN, which isolates and aligns faces from video frames. DenseNet-121 then captures spatial inconsistencies typical of synthetic faces, generating rich feature embeddings. These embeddings are processed by a bidirectional GRU that evaluates how facial artifacts behave across time. The final layer applies Grad-CAM, producing visual attention maps that highlight suspicious regions and justify each prediction.</a:t>
            </a:r>
            <a:endParaRPr lang="en-IN" sz="2000" dirty="0">
              <a:latin typeface="+mn-lt"/>
              <a:cs typeface="Times New Roman" panose="02020603050405020304" pitchFamily="18" charset="0"/>
            </a:endParaRPr>
          </a:p>
        </p:txBody>
      </p:sp>
      <p:pic>
        <p:nvPicPr>
          <p:cNvPr id="4" name="Picture 3">
            <a:extLst>
              <a:ext uri="{FF2B5EF4-FFF2-40B4-BE49-F238E27FC236}">
                <a16:creationId xmlns:a16="http://schemas.microsoft.com/office/drawing/2014/main" id="{CCD8959A-0329-70C2-8C8E-828E700EB7CC}"/>
              </a:ext>
            </a:extLst>
          </p:cNvPr>
          <p:cNvPicPr>
            <a:picLocks noChangeAspect="1"/>
          </p:cNvPicPr>
          <p:nvPr/>
        </p:nvPicPr>
        <p:blipFill>
          <a:blip r:embed="rId3"/>
          <a:stretch>
            <a:fillRect/>
          </a:stretch>
        </p:blipFill>
        <p:spPr>
          <a:xfrm>
            <a:off x="6766559" y="1147156"/>
            <a:ext cx="4958081" cy="5054139"/>
          </a:xfrm>
          <a:prstGeom prst="rect">
            <a:avLst/>
          </a:prstGeom>
        </p:spPr>
      </p:pic>
    </p:spTree>
    <p:extLst>
      <p:ext uri="{BB962C8B-B14F-4D97-AF65-F5344CB8AC3E}">
        <p14:creationId xmlns:p14="http://schemas.microsoft.com/office/powerpoint/2010/main" val="2952647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04286F9-4E15-922E-1FA3-0FCA210F90D1}"/>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51EAACAC-3161-6756-F039-EAA9C7AC177F}"/>
              </a:ext>
            </a:extLst>
          </p:cNvPr>
          <p:cNvSpPr txBox="1">
            <a:spLocks noGrp="1"/>
          </p:cNvSpPr>
          <p:nvPr>
            <p:ph type="title"/>
          </p:nvPr>
        </p:nvSpPr>
        <p:spPr>
          <a:xfrm>
            <a:off x="873760" y="345758"/>
            <a:ext cx="10668000" cy="487500"/>
          </a:xfrm>
          <a:prstGeom prst="rect">
            <a:avLst/>
          </a:prstGeom>
          <a:noFill/>
          <a:ln>
            <a:noFill/>
          </a:ln>
        </p:spPr>
        <p:txBody>
          <a:bodyPr spcFirstLastPara="1" wrap="square" lIns="91425" tIns="45700" rIns="91425" bIns="45700" anchor="ctr" anchorCtr="0">
            <a:noAutofit/>
          </a:bodyPr>
          <a:lstStyle/>
          <a:p>
            <a:r>
              <a:rPr lang="en-IN" sz="2400" dirty="0">
                <a:latin typeface="+mn-lt"/>
                <a:cs typeface="Times New Roman" panose="02020603050405020304" pitchFamily="18" charset="0"/>
              </a:rPr>
              <a:t>DATASET AND TRAINING</a:t>
            </a:r>
            <a:endParaRPr sz="2400" dirty="0">
              <a:latin typeface="+mn-lt"/>
              <a:ea typeface="Cambria" panose="020405030504060302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55384E17-04A8-BC32-C13D-2755C4390C45}"/>
              </a:ext>
            </a:extLst>
          </p:cNvPr>
          <p:cNvSpPr>
            <a:spLocks noChangeArrowheads="1"/>
          </p:cNvSpPr>
          <p:nvPr/>
        </p:nvSpPr>
        <p:spPr bwMode="auto">
          <a:xfrm>
            <a:off x="467360" y="3467854"/>
            <a:ext cx="112369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D0134372-58D8-0992-C73E-045B493BB3BC}"/>
              </a:ext>
            </a:extLst>
          </p:cNvPr>
          <p:cNvSpPr txBox="1"/>
          <p:nvPr/>
        </p:nvSpPr>
        <p:spPr>
          <a:xfrm>
            <a:off x="873759" y="1263535"/>
            <a:ext cx="9949411" cy="1938992"/>
          </a:xfrm>
          <a:prstGeom prst="rect">
            <a:avLst/>
          </a:prstGeom>
          <a:noFill/>
        </p:spPr>
        <p:txBody>
          <a:bodyPr wrap="square" rtlCol="0">
            <a:spAutoFit/>
          </a:bodyPr>
          <a:lstStyle/>
          <a:p>
            <a:r>
              <a:rPr lang="en-US" sz="2000" dirty="0">
                <a:latin typeface="+mn-lt"/>
                <a:cs typeface="Times New Roman" panose="02020603050405020304" pitchFamily="18" charset="0"/>
              </a:rPr>
              <a:t>The model is trained on the Google </a:t>
            </a:r>
            <a:r>
              <a:rPr lang="en-US" sz="2000" dirty="0" err="1">
                <a:latin typeface="+mn-lt"/>
                <a:cs typeface="Times New Roman" panose="02020603050405020304" pitchFamily="18" charset="0"/>
              </a:rPr>
              <a:t>DeepFake</a:t>
            </a:r>
            <a:r>
              <a:rPr lang="en-US" sz="2000" dirty="0">
                <a:latin typeface="+mn-lt"/>
                <a:cs typeface="Times New Roman" panose="02020603050405020304" pitchFamily="18" charset="0"/>
              </a:rPr>
              <a:t> Detection dataset, which offers more than three thousand videos from real actors and professionally generated manipulations. The data is split in a balanced manner to prevent bias.</a:t>
            </a:r>
            <a:br>
              <a:rPr lang="en-US" sz="2000" dirty="0">
                <a:latin typeface="+mn-lt"/>
                <a:cs typeface="Times New Roman" panose="02020603050405020304" pitchFamily="18" charset="0"/>
              </a:rPr>
            </a:br>
            <a:r>
              <a:rPr lang="en-US" sz="2000" dirty="0">
                <a:latin typeface="+mn-lt"/>
                <a:cs typeface="Times New Roman" panose="02020603050405020304" pitchFamily="18" charset="0"/>
              </a:rPr>
              <a:t>Training uses Adam optimization with binary cross-entropy loss and early stopping. The complete model converges within 18 epochs on consumer-level hardware, demonstrating realistic deployment feasibility.</a:t>
            </a:r>
            <a:endParaRPr lang="en-IN" sz="2000" dirty="0">
              <a:latin typeface="+mn-lt"/>
              <a:cs typeface="Times New Roman" panose="02020603050405020304" pitchFamily="18" charset="0"/>
            </a:endParaRPr>
          </a:p>
        </p:txBody>
      </p:sp>
    </p:spTree>
    <p:extLst>
      <p:ext uri="{BB962C8B-B14F-4D97-AF65-F5344CB8AC3E}">
        <p14:creationId xmlns:p14="http://schemas.microsoft.com/office/powerpoint/2010/main" val="2714898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66418928-A4BA-72E9-E8CC-2DE40CCF5321}"/>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746F9A2F-2B9F-5F18-412E-2ABCAFF10F47}"/>
              </a:ext>
            </a:extLst>
          </p:cNvPr>
          <p:cNvSpPr txBox="1">
            <a:spLocks noGrp="1"/>
          </p:cNvSpPr>
          <p:nvPr>
            <p:ph type="title"/>
          </p:nvPr>
        </p:nvSpPr>
        <p:spPr>
          <a:xfrm>
            <a:off x="873760" y="345758"/>
            <a:ext cx="10668000" cy="487500"/>
          </a:xfrm>
          <a:prstGeom prst="rect">
            <a:avLst/>
          </a:prstGeom>
          <a:noFill/>
          <a:ln>
            <a:noFill/>
          </a:ln>
        </p:spPr>
        <p:txBody>
          <a:bodyPr spcFirstLastPara="1" wrap="square" lIns="91425" tIns="45700" rIns="91425" bIns="45700" anchor="ctr" anchorCtr="0">
            <a:noAutofit/>
          </a:bodyPr>
          <a:lstStyle/>
          <a:p>
            <a:r>
              <a:rPr lang="en-IN" sz="2400" dirty="0">
                <a:latin typeface="+mn-lt"/>
                <a:cs typeface="Times New Roman" panose="02020603050405020304" pitchFamily="18" charset="0"/>
              </a:rPr>
              <a:t>CORE METHODOLOGY</a:t>
            </a:r>
            <a:endParaRPr sz="2400" dirty="0">
              <a:latin typeface="+mn-lt"/>
              <a:ea typeface="Cambria" panose="020405030504060302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89C06516-FE00-779A-374D-F81C52497ED3}"/>
              </a:ext>
            </a:extLst>
          </p:cNvPr>
          <p:cNvSpPr>
            <a:spLocks noChangeArrowheads="1"/>
          </p:cNvSpPr>
          <p:nvPr/>
        </p:nvSpPr>
        <p:spPr bwMode="auto">
          <a:xfrm>
            <a:off x="467360" y="3467854"/>
            <a:ext cx="112369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EEB822BB-3D88-1D86-DBCF-771691477B7A}"/>
              </a:ext>
            </a:extLst>
          </p:cNvPr>
          <p:cNvSpPr txBox="1"/>
          <p:nvPr/>
        </p:nvSpPr>
        <p:spPr>
          <a:xfrm>
            <a:off x="873759" y="1263535"/>
            <a:ext cx="9949411" cy="2862322"/>
          </a:xfrm>
          <a:prstGeom prst="rect">
            <a:avLst/>
          </a:prstGeom>
          <a:noFill/>
        </p:spPr>
        <p:txBody>
          <a:bodyPr wrap="square" rtlCol="0">
            <a:spAutoFit/>
          </a:bodyPr>
          <a:lstStyle/>
          <a:p>
            <a:r>
              <a:rPr lang="en-US" sz="2000" dirty="0">
                <a:latin typeface="+mn-lt"/>
                <a:cs typeface="Times New Roman" panose="02020603050405020304" pitchFamily="18" charset="0"/>
              </a:rPr>
              <a:t>Face preprocessing uses MTCNN to detect landmarks, align faces, and standardize input to 224×224 resolution. From each video, 30 representative frames are extracted.</a:t>
            </a:r>
            <a:br>
              <a:rPr lang="en-US" sz="2000" dirty="0">
                <a:latin typeface="+mn-lt"/>
                <a:cs typeface="Times New Roman" panose="02020603050405020304" pitchFamily="18" charset="0"/>
              </a:rPr>
            </a:br>
            <a:r>
              <a:rPr lang="en-US" sz="2000" dirty="0">
                <a:latin typeface="+mn-lt"/>
                <a:cs typeface="Times New Roman" panose="02020603050405020304" pitchFamily="18" charset="0"/>
              </a:rPr>
              <a:t>DenseNet-121 reduces redundancy through dense connections, generating 1024-dimensional descriptors that capture subtle distortions introduced by deepfake generators.</a:t>
            </a:r>
          </a:p>
          <a:p>
            <a:br>
              <a:rPr lang="en-US" sz="2000" dirty="0">
                <a:latin typeface="+mn-lt"/>
                <a:cs typeface="Times New Roman" panose="02020603050405020304" pitchFamily="18" charset="0"/>
              </a:rPr>
            </a:br>
            <a:r>
              <a:rPr lang="en-US" sz="2000" dirty="0">
                <a:latin typeface="+mn-lt"/>
                <a:cs typeface="Times New Roman" panose="02020603050405020304" pitchFamily="18" charset="0"/>
              </a:rPr>
              <a:t>Temporal modeling is handled by a bidirectional GRU. Fake content exhibits abnormal stability of artifacts across frames, while genuine videos show natural variation. The model learns this difference and uses it to strengthen classification.</a:t>
            </a:r>
            <a:endParaRPr lang="en-IN" sz="2000" dirty="0">
              <a:latin typeface="+mn-lt"/>
              <a:cs typeface="Times New Roman" panose="02020603050405020304" pitchFamily="18" charset="0"/>
            </a:endParaRPr>
          </a:p>
        </p:txBody>
      </p:sp>
    </p:spTree>
    <p:extLst>
      <p:ext uri="{BB962C8B-B14F-4D97-AF65-F5344CB8AC3E}">
        <p14:creationId xmlns:p14="http://schemas.microsoft.com/office/powerpoint/2010/main" val="455883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0C99E4EA-9752-FFF4-7815-5E7D517BA908}"/>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B6676502-52F1-BF33-9743-C82FC59D8DB3}"/>
              </a:ext>
            </a:extLst>
          </p:cNvPr>
          <p:cNvSpPr txBox="1">
            <a:spLocks noGrp="1"/>
          </p:cNvSpPr>
          <p:nvPr>
            <p:ph type="title"/>
          </p:nvPr>
        </p:nvSpPr>
        <p:spPr>
          <a:xfrm>
            <a:off x="873760" y="345758"/>
            <a:ext cx="10668000" cy="487500"/>
          </a:xfrm>
          <a:prstGeom prst="rect">
            <a:avLst/>
          </a:prstGeom>
          <a:noFill/>
          <a:ln>
            <a:noFill/>
          </a:ln>
        </p:spPr>
        <p:txBody>
          <a:bodyPr spcFirstLastPara="1" wrap="square" lIns="91425" tIns="45700" rIns="91425" bIns="45700" anchor="ctr" anchorCtr="0">
            <a:noAutofit/>
          </a:bodyPr>
          <a:lstStyle/>
          <a:p>
            <a:r>
              <a:rPr lang="en-IN" sz="2400" dirty="0">
                <a:latin typeface="+mn-lt"/>
                <a:cs typeface="Times New Roman" panose="02020603050405020304" pitchFamily="18" charset="0"/>
              </a:rPr>
              <a:t>EXPLAINABILITY</a:t>
            </a:r>
            <a:endParaRPr sz="2400" dirty="0">
              <a:latin typeface="+mn-lt"/>
              <a:ea typeface="Cambria" panose="020405030504060302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C0C69E4A-575A-7903-CEF2-BF558B8A1359}"/>
              </a:ext>
            </a:extLst>
          </p:cNvPr>
          <p:cNvSpPr>
            <a:spLocks noChangeArrowheads="1"/>
          </p:cNvSpPr>
          <p:nvPr/>
        </p:nvSpPr>
        <p:spPr bwMode="auto">
          <a:xfrm>
            <a:off x="467360" y="3467854"/>
            <a:ext cx="112369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1985F96A-7ED9-728E-C2F2-B218618CBBC1}"/>
              </a:ext>
            </a:extLst>
          </p:cNvPr>
          <p:cNvSpPr txBox="1"/>
          <p:nvPr/>
        </p:nvSpPr>
        <p:spPr>
          <a:xfrm>
            <a:off x="873759" y="1263535"/>
            <a:ext cx="9949411" cy="1631216"/>
          </a:xfrm>
          <a:prstGeom prst="rect">
            <a:avLst/>
          </a:prstGeom>
          <a:noFill/>
        </p:spPr>
        <p:txBody>
          <a:bodyPr wrap="square" rtlCol="0">
            <a:spAutoFit/>
          </a:bodyPr>
          <a:lstStyle/>
          <a:p>
            <a:r>
              <a:rPr lang="en-US" sz="2000" dirty="0">
                <a:latin typeface="+mn-lt"/>
                <a:cs typeface="Times New Roman" panose="02020603050405020304" pitchFamily="18" charset="0"/>
              </a:rPr>
              <a:t>Grad-CAM highlights the regions most responsible for a prediction. Instead of a raw probability value, the system produces a heatmap that overlays the face and visually reveals manipulation hotspots such as the jawline, mouth, or nose. Each sample is explained automatically, and the additional computation is negligible. The detector does not just classify—it proves its reasoning.</a:t>
            </a:r>
            <a:endParaRPr lang="en-IN" sz="2000" dirty="0">
              <a:latin typeface="+mn-lt"/>
              <a:cs typeface="Times New Roman" panose="02020603050405020304" pitchFamily="18" charset="0"/>
            </a:endParaRPr>
          </a:p>
        </p:txBody>
      </p:sp>
    </p:spTree>
    <p:extLst>
      <p:ext uri="{BB962C8B-B14F-4D97-AF65-F5344CB8AC3E}">
        <p14:creationId xmlns:p14="http://schemas.microsoft.com/office/powerpoint/2010/main" val="3166924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318AAEF-232E-C3BF-808E-51AB3AF5DD71}"/>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9AA2904C-1538-5A1A-CF9A-216EFCC2A1F8}"/>
              </a:ext>
            </a:extLst>
          </p:cNvPr>
          <p:cNvSpPr txBox="1">
            <a:spLocks noGrp="1"/>
          </p:cNvSpPr>
          <p:nvPr>
            <p:ph type="title"/>
          </p:nvPr>
        </p:nvSpPr>
        <p:spPr>
          <a:xfrm>
            <a:off x="873760" y="345758"/>
            <a:ext cx="10668000" cy="487500"/>
          </a:xfrm>
          <a:prstGeom prst="rect">
            <a:avLst/>
          </a:prstGeom>
          <a:noFill/>
          <a:ln>
            <a:noFill/>
          </a:ln>
        </p:spPr>
        <p:txBody>
          <a:bodyPr spcFirstLastPara="1" wrap="square" lIns="91425" tIns="45700" rIns="91425" bIns="45700" anchor="ctr" anchorCtr="0">
            <a:noAutofit/>
          </a:bodyPr>
          <a:lstStyle/>
          <a:p>
            <a:r>
              <a:rPr lang="en-IN" sz="2400" dirty="0">
                <a:latin typeface="+mn-lt"/>
                <a:cs typeface="Times New Roman" panose="02020603050405020304" pitchFamily="18" charset="0"/>
              </a:rPr>
              <a:t>RESULTS</a:t>
            </a:r>
            <a:endParaRPr sz="2400" dirty="0">
              <a:latin typeface="+mn-lt"/>
              <a:ea typeface="Cambria" panose="020405030504060302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554A0695-EC20-4CB2-4431-883D00C6D994}"/>
              </a:ext>
            </a:extLst>
          </p:cNvPr>
          <p:cNvSpPr>
            <a:spLocks noChangeArrowheads="1"/>
          </p:cNvSpPr>
          <p:nvPr/>
        </p:nvSpPr>
        <p:spPr bwMode="auto">
          <a:xfrm>
            <a:off x="467360" y="3467854"/>
            <a:ext cx="112369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92A9704A-C0A9-E675-45C4-88C81EDD8794}"/>
              </a:ext>
            </a:extLst>
          </p:cNvPr>
          <p:cNvSpPr txBox="1"/>
          <p:nvPr/>
        </p:nvSpPr>
        <p:spPr>
          <a:xfrm>
            <a:off x="873759" y="1263535"/>
            <a:ext cx="9949411" cy="2862322"/>
          </a:xfrm>
          <a:prstGeom prst="rect">
            <a:avLst/>
          </a:prstGeom>
          <a:noFill/>
        </p:spPr>
        <p:txBody>
          <a:bodyPr wrap="square" rtlCol="0">
            <a:spAutoFit/>
          </a:bodyPr>
          <a:lstStyle/>
          <a:p>
            <a:r>
              <a:rPr lang="en-US" sz="2000" dirty="0">
                <a:latin typeface="+mn-lt"/>
                <a:cs typeface="Times New Roman" panose="02020603050405020304" pitchFamily="18" charset="0"/>
              </a:rPr>
              <a:t>The system consistently surpasses its targets. On the test set, classification accuracy reaches 88.33% and ROC-AUC reaches 0.937.</a:t>
            </a:r>
            <a:br>
              <a:rPr lang="en-US" sz="2000" dirty="0">
                <a:latin typeface="+mn-lt"/>
                <a:cs typeface="Times New Roman" panose="02020603050405020304" pitchFamily="18" charset="0"/>
              </a:rPr>
            </a:br>
            <a:r>
              <a:rPr lang="en-US" sz="2000" dirty="0">
                <a:latin typeface="+mn-lt"/>
                <a:cs typeface="Times New Roman" panose="02020603050405020304" pitchFamily="18" charset="0"/>
              </a:rPr>
              <a:t>Ablation studies show clear contribution from every component: </a:t>
            </a:r>
            <a:r>
              <a:rPr lang="en-US" sz="2000" dirty="0" err="1">
                <a:latin typeface="+mn-lt"/>
                <a:cs typeface="Times New Roman" panose="02020603050405020304" pitchFamily="18" charset="0"/>
              </a:rPr>
              <a:t>DenseNet</a:t>
            </a:r>
            <a:r>
              <a:rPr lang="en-US" sz="2000" dirty="0">
                <a:latin typeface="+mn-lt"/>
                <a:cs typeface="Times New Roman" panose="02020603050405020304" pitchFamily="18" charset="0"/>
              </a:rPr>
              <a:t> alone forms a solid baseline, temporal modeling via GRU brings a significant boost, and bidirectional processing provides the best performance. Grad-CAM introduces transparency without degrading results.</a:t>
            </a:r>
            <a:br>
              <a:rPr lang="en-US" sz="2000" dirty="0">
                <a:latin typeface="+mn-lt"/>
                <a:cs typeface="Times New Roman" panose="02020603050405020304" pitchFamily="18" charset="0"/>
              </a:rPr>
            </a:br>
            <a:r>
              <a:rPr lang="en-US" sz="2000" dirty="0">
                <a:latin typeface="+mn-lt"/>
                <a:cs typeface="Times New Roman" panose="02020603050405020304" pitchFamily="18" charset="0"/>
              </a:rPr>
              <a:t>Compared to widely used methods such as </a:t>
            </a:r>
            <a:r>
              <a:rPr lang="en-US" sz="2000" dirty="0" err="1">
                <a:latin typeface="+mn-lt"/>
                <a:cs typeface="Times New Roman" panose="02020603050405020304" pitchFamily="18" charset="0"/>
              </a:rPr>
              <a:t>XceptionNet</a:t>
            </a:r>
            <a:r>
              <a:rPr lang="en-US" sz="2000" dirty="0">
                <a:latin typeface="+mn-lt"/>
                <a:cs typeface="Times New Roman" panose="02020603050405020304" pitchFamily="18" charset="0"/>
              </a:rPr>
              <a:t> or </a:t>
            </a:r>
            <a:r>
              <a:rPr lang="en-US" sz="2000" dirty="0" err="1">
                <a:latin typeface="+mn-lt"/>
                <a:cs typeface="Times New Roman" panose="02020603050405020304" pitchFamily="18" charset="0"/>
              </a:rPr>
              <a:t>ResNet</a:t>
            </a:r>
            <a:r>
              <a:rPr lang="en-US" sz="2000" dirty="0">
                <a:latin typeface="+mn-lt"/>
                <a:cs typeface="Times New Roman" panose="02020603050405020304" pitchFamily="18" charset="0"/>
              </a:rPr>
              <a:t>-LSTM, the proposed framework is both faster and more informative.</a:t>
            </a:r>
          </a:p>
          <a:p>
            <a:endParaRPr lang="en-IN" sz="2000" dirty="0">
              <a:latin typeface="+mn-lt"/>
              <a:cs typeface="Times New Roman" panose="02020603050405020304" pitchFamily="18" charset="0"/>
            </a:endParaRPr>
          </a:p>
        </p:txBody>
      </p:sp>
    </p:spTree>
    <p:extLst>
      <p:ext uri="{BB962C8B-B14F-4D97-AF65-F5344CB8AC3E}">
        <p14:creationId xmlns:p14="http://schemas.microsoft.com/office/powerpoint/2010/main" val="26999578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394A2C40-DBFD-FC9C-2F83-7E850E832304}"/>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2066F684-2090-5A38-9223-C816052CD370}"/>
              </a:ext>
            </a:extLst>
          </p:cNvPr>
          <p:cNvSpPr txBox="1">
            <a:spLocks noGrp="1"/>
          </p:cNvSpPr>
          <p:nvPr>
            <p:ph type="title"/>
          </p:nvPr>
        </p:nvSpPr>
        <p:spPr>
          <a:xfrm>
            <a:off x="873760" y="345758"/>
            <a:ext cx="10668000" cy="487500"/>
          </a:xfrm>
          <a:prstGeom prst="rect">
            <a:avLst/>
          </a:prstGeom>
          <a:noFill/>
          <a:ln>
            <a:noFill/>
          </a:ln>
        </p:spPr>
        <p:txBody>
          <a:bodyPr spcFirstLastPara="1" wrap="square" lIns="91425" tIns="45700" rIns="91425" bIns="45700" anchor="ctr" anchorCtr="0">
            <a:noAutofit/>
          </a:bodyPr>
          <a:lstStyle/>
          <a:p>
            <a:r>
              <a:rPr lang="en-IN" sz="2400" dirty="0">
                <a:latin typeface="+mn-lt"/>
                <a:cs typeface="Times New Roman" panose="02020603050405020304" pitchFamily="18" charset="0"/>
              </a:rPr>
              <a:t>APPLICATION AND ETHICS</a:t>
            </a:r>
            <a:endParaRPr sz="2400" dirty="0">
              <a:latin typeface="+mn-lt"/>
              <a:ea typeface="Cambria" panose="020405030504060302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6DAA697D-2ABE-A39F-E9CD-9956F07ACABC}"/>
              </a:ext>
            </a:extLst>
          </p:cNvPr>
          <p:cNvSpPr>
            <a:spLocks noChangeArrowheads="1"/>
          </p:cNvSpPr>
          <p:nvPr/>
        </p:nvSpPr>
        <p:spPr bwMode="auto">
          <a:xfrm>
            <a:off x="467360" y="3467854"/>
            <a:ext cx="112369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cs typeface="Times New Roman" panose="02020603050405020304" pitchFamily="18" charset="0"/>
            </a:endParaRPr>
          </a:p>
        </p:txBody>
      </p:sp>
      <p:sp>
        <p:nvSpPr>
          <p:cNvPr id="5" name="TextBox 4">
            <a:extLst>
              <a:ext uri="{FF2B5EF4-FFF2-40B4-BE49-F238E27FC236}">
                <a16:creationId xmlns:a16="http://schemas.microsoft.com/office/drawing/2014/main" id="{CEB9D21F-EEA1-8615-E8A9-6A869BB1C83F}"/>
              </a:ext>
            </a:extLst>
          </p:cNvPr>
          <p:cNvSpPr txBox="1"/>
          <p:nvPr/>
        </p:nvSpPr>
        <p:spPr>
          <a:xfrm>
            <a:off x="873759" y="1263535"/>
            <a:ext cx="9949411" cy="2246769"/>
          </a:xfrm>
          <a:prstGeom prst="rect">
            <a:avLst/>
          </a:prstGeom>
          <a:noFill/>
        </p:spPr>
        <p:txBody>
          <a:bodyPr wrap="square" rtlCol="0">
            <a:spAutoFit/>
          </a:bodyPr>
          <a:lstStyle/>
          <a:p>
            <a:r>
              <a:rPr lang="en-US" sz="2000" dirty="0">
                <a:latin typeface="+mn-lt"/>
                <a:cs typeface="Times New Roman" panose="02020603050405020304" pitchFamily="18" charset="0"/>
              </a:rPr>
              <a:t>A </a:t>
            </a:r>
            <a:r>
              <a:rPr lang="en-US" sz="2000" dirty="0" err="1">
                <a:latin typeface="+mn-lt"/>
                <a:cs typeface="Times New Roman" panose="02020603050405020304" pitchFamily="18" charset="0"/>
              </a:rPr>
              <a:t>Streamlit</a:t>
            </a:r>
            <a:r>
              <a:rPr lang="en-US" sz="2000" dirty="0">
                <a:latin typeface="+mn-lt"/>
                <a:cs typeface="Times New Roman" panose="02020603050405020304" pitchFamily="18" charset="0"/>
              </a:rPr>
              <a:t> dashboard turns the system into a usable tool: upload a video, receive a prediction, visualize the heatmap, analyze regional suspicion, and export findings when necessary.</a:t>
            </a:r>
            <a:br>
              <a:rPr lang="en-US" sz="2000" dirty="0">
                <a:latin typeface="+mn-lt"/>
                <a:cs typeface="Times New Roman" panose="02020603050405020304" pitchFamily="18" charset="0"/>
              </a:rPr>
            </a:br>
            <a:r>
              <a:rPr lang="en-US" sz="2000" dirty="0">
                <a:latin typeface="+mn-lt"/>
                <a:cs typeface="Times New Roman" panose="02020603050405020304" pitchFamily="18" charset="0"/>
              </a:rPr>
              <a:t>Ethical constraints are built into the design. Processing remains local to protect privacy, demographic bias is monitored, and human verification remains central to deployment. The framework is transparent by design, not obscured in proprietary models.</a:t>
            </a:r>
            <a:endParaRPr lang="en-IN" sz="2000" dirty="0">
              <a:latin typeface="+mn-lt"/>
              <a:cs typeface="Times New Roman" panose="02020603050405020304" pitchFamily="18" charset="0"/>
            </a:endParaRPr>
          </a:p>
        </p:txBody>
      </p:sp>
    </p:spTree>
    <p:extLst>
      <p:ext uri="{BB962C8B-B14F-4D97-AF65-F5344CB8AC3E}">
        <p14:creationId xmlns:p14="http://schemas.microsoft.com/office/powerpoint/2010/main" val="2329237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08C25-F03E-090B-5FF4-8F88A12E198B}"/>
              </a:ext>
            </a:extLst>
          </p:cNvPr>
          <p:cNvSpPr>
            <a:spLocks noGrp="1"/>
          </p:cNvSpPr>
          <p:nvPr>
            <p:ph type="title"/>
          </p:nvPr>
        </p:nvSpPr>
        <p:spPr/>
        <p:txBody>
          <a:bodyPr/>
          <a:lstStyle/>
          <a:p>
            <a:r>
              <a:rPr lang="en-IN" dirty="0">
                <a:latin typeface="+mn-lt"/>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44FCD149-9DCC-41A3-AF6F-8AA6A21F2E25}"/>
              </a:ext>
            </a:extLst>
          </p:cNvPr>
          <p:cNvSpPr>
            <a:spLocks noGrp="1"/>
          </p:cNvSpPr>
          <p:nvPr>
            <p:ph type="body" idx="1"/>
          </p:nvPr>
        </p:nvSpPr>
        <p:spPr/>
        <p:txBody>
          <a:bodyPr/>
          <a:lstStyle/>
          <a:p>
            <a:pPr marL="76200" indent="0">
              <a:buNone/>
            </a:pPr>
            <a:r>
              <a:rPr lang="en-US" dirty="0">
                <a:latin typeface="+mn-lt"/>
                <a:cs typeface="Times New Roman" panose="02020603050405020304" pitchFamily="18" charset="0"/>
              </a:rPr>
              <a:t>The project addresses deepfake detection from a practical, forensic perspective. Instead of trading accuracy for explainability, it combines both and proves that transparent detection is possible in real time.</a:t>
            </a:r>
            <a:br>
              <a:rPr lang="en-US" dirty="0">
                <a:latin typeface="+mn-lt"/>
                <a:cs typeface="Times New Roman" panose="02020603050405020304" pitchFamily="18" charset="0"/>
              </a:rPr>
            </a:br>
            <a:r>
              <a:rPr lang="en-US" dirty="0">
                <a:latin typeface="+mn-lt"/>
                <a:cs typeface="Times New Roman" panose="02020603050405020304" pitchFamily="18" charset="0"/>
              </a:rPr>
              <a:t>The framework strengthens trust, supports high-stakes decision-making, and sets a direction for responsible AI systems.</a:t>
            </a:r>
            <a:br>
              <a:rPr lang="en-US" dirty="0">
                <a:latin typeface="+mn-lt"/>
                <a:cs typeface="Times New Roman" panose="02020603050405020304" pitchFamily="18" charset="0"/>
              </a:rPr>
            </a:br>
            <a:r>
              <a:rPr lang="en-US" dirty="0">
                <a:latin typeface="+mn-lt"/>
                <a:cs typeface="Times New Roman" panose="02020603050405020304" pitchFamily="18" charset="0"/>
              </a:rPr>
              <a:t>Questions / Contact.</a:t>
            </a:r>
            <a:endParaRPr lang="en-IN" dirty="0">
              <a:latin typeface="+mn-lt"/>
              <a:cs typeface="Times New Roman" panose="02020603050405020304" pitchFamily="18" charset="0"/>
            </a:endParaRPr>
          </a:p>
        </p:txBody>
      </p:sp>
    </p:spTree>
    <p:extLst>
      <p:ext uri="{BB962C8B-B14F-4D97-AF65-F5344CB8AC3E}">
        <p14:creationId xmlns:p14="http://schemas.microsoft.com/office/powerpoint/2010/main" val="2343580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0D22E-76F7-0E93-8353-32B9BE3DB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FDA196-2097-DD89-67DD-F8512C6F0A8C}"/>
              </a:ext>
            </a:extLst>
          </p:cNvPr>
          <p:cNvSpPr>
            <a:spLocks noGrp="1"/>
          </p:cNvSpPr>
          <p:nvPr>
            <p:ph type="title"/>
          </p:nvPr>
        </p:nvSpPr>
        <p:spPr/>
        <p:txBody>
          <a:bodyPr/>
          <a:lstStyle/>
          <a:p>
            <a:r>
              <a:rPr lang="en-US" dirty="0">
                <a:latin typeface="+mn-lt"/>
              </a:rPr>
              <a:t>G</a:t>
            </a:r>
            <a:r>
              <a:rPr lang="en-IN" dirty="0">
                <a:latin typeface="+mn-lt"/>
              </a:rPr>
              <a:t>ANTT CHART</a:t>
            </a:r>
          </a:p>
        </p:txBody>
      </p:sp>
      <p:sp>
        <p:nvSpPr>
          <p:cNvPr id="3" name="Text Placeholder 2">
            <a:extLst>
              <a:ext uri="{FF2B5EF4-FFF2-40B4-BE49-F238E27FC236}">
                <a16:creationId xmlns:a16="http://schemas.microsoft.com/office/drawing/2014/main" id="{0B808BE9-DD69-4576-4394-0D0F821F0E50}"/>
              </a:ext>
            </a:extLst>
          </p:cNvPr>
          <p:cNvSpPr>
            <a:spLocks noGrp="1"/>
          </p:cNvSpPr>
          <p:nvPr>
            <p:ph type="body" idx="1"/>
          </p:nvPr>
        </p:nvSpPr>
        <p:spPr/>
        <p:txBody>
          <a:bodyPr/>
          <a:lstStyle/>
          <a:p>
            <a:pPr marL="76200" indent="0">
              <a:buNone/>
            </a:pPr>
            <a:endParaRPr lang="en-IN" dirty="0">
              <a:latin typeface="+mn-lt"/>
            </a:endParaRPr>
          </a:p>
        </p:txBody>
      </p:sp>
      <p:pic>
        <p:nvPicPr>
          <p:cNvPr id="5" name="Picture 4" descr="A screenshot of a computer screen&#10;&#10;AI-generated content may be incorrect.">
            <a:extLst>
              <a:ext uri="{FF2B5EF4-FFF2-40B4-BE49-F238E27FC236}">
                <a16:creationId xmlns:a16="http://schemas.microsoft.com/office/drawing/2014/main" id="{92079586-BEF2-879B-71FF-E6D0CB7683CB}"/>
              </a:ext>
            </a:extLst>
          </p:cNvPr>
          <p:cNvPicPr>
            <a:picLocks noChangeAspect="1"/>
          </p:cNvPicPr>
          <p:nvPr/>
        </p:nvPicPr>
        <p:blipFill>
          <a:blip r:embed="rId2"/>
          <a:stretch>
            <a:fillRect/>
          </a:stretch>
        </p:blipFill>
        <p:spPr>
          <a:xfrm>
            <a:off x="711200" y="1015539"/>
            <a:ext cx="10769600" cy="4953000"/>
          </a:xfrm>
          <a:prstGeom prst="rect">
            <a:avLst/>
          </a:prstGeom>
        </p:spPr>
      </p:pic>
    </p:spTree>
    <p:extLst>
      <p:ext uri="{BB962C8B-B14F-4D97-AF65-F5344CB8AC3E}">
        <p14:creationId xmlns:p14="http://schemas.microsoft.com/office/powerpoint/2010/main" val="2567497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E4D78-493C-C0AB-B8EF-CE6DA70A25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070AF1-14FC-7E30-9E5A-F802C9C465FB}"/>
              </a:ext>
            </a:extLst>
          </p:cNvPr>
          <p:cNvSpPr>
            <a:spLocks noGrp="1"/>
          </p:cNvSpPr>
          <p:nvPr>
            <p:ph type="title"/>
          </p:nvPr>
        </p:nvSpPr>
        <p:spPr/>
        <p:txBody>
          <a:bodyPr/>
          <a:lstStyle/>
          <a:p>
            <a:r>
              <a:rPr lang="en-US" dirty="0">
                <a:latin typeface="+mn-lt"/>
              </a:rPr>
              <a:t>R</a:t>
            </a:r>
            <a:r>
              <a:rPr lang="en-IN" dirty="0">
                <a:latin typeface="+mn-lt"/>
              </a:rPr>
              <a:t>EFERENCES</a:t>
            </a:r>
          </a:p>
        </p:txBody>
      </p:sp>
      <p:sp>
        <p:nvSpPr>
          <p:cNvPr id="3" name="Text Placeholder 2">
            <a:extLst>
              <a:ext uri="{FF2B5EF4-FFF2-40B4-BE49-F238E27FC236}">
                <a16:creationId xmlns:a16="http://schemas.microsoft.com/office/drawing/2014/main" id="{C5CEB3D3-D34E-D41B-F20F-A08819633737}"/>
              </a:ext>
            </a:extLst>
          </p:cNvPr>
          <p:cNvSpPr>
            <a:spLocks noGrp="1"/>
          </p:cNvSpPr>
          <p:nvPr>
            <p:ph type="body" idx="1"/>
          </p:nvPr>
        </p:nvSpPr>
        <p:spPr/>
        <p:txBody>
          <a:bodyPr>
            <a:normAutofit fontScale="85000" lnSpcReduction="20000"/>
          </a:bodyPr>
          <a:lstStyle/>
          <a:p>
            <a:r>
              <a:rPr lang="en-IN" dirty="0" err="1">
                <a:latin typeface="+mn-lt"/>
              </a:rPr>
              <a:t>PyTorch</a:t>
            </a:r>
            <a:r>
              <a:rPr lang="en-IN" dirty="0">
                <a:latin typeface="+mn-lt"/>
              </a:rPr>
              <a:t> [1] - Deep learning framework used for model development and training</a:t>
            </a:r>
          </a:p>
          <a:p>
            <a:r>
              <a:rPr lang="en-IN" dirty="0">
                <a:latin typeface="+mn-lt"/>
              </a:rPr>
              <a:t>MTCNN [2] - Multi-task Cascaded Convolutional Networks for face detection pipeline and preprocessing</a:t>
            </a:r>
          </a:p>
          <a:p>
            <a:r>
              <a:rPr lang="en-IN" dirty="0" err="1">
                <a:latin typeface="+mn-lt"/>
              </a:rPr>
              <a:t>Streamlit</a:t>
            </a:r>
            <a:r>
              <a:rPr lang="en-IN" dirty="0">
                <a:latin typeface="+mn-lt"/>
              </a:rPr>
              <a:t> [3] - Framework for building the interactive dashboard and user interface</a:t>
            </a:r>
          </a:p>
          <a:p>
            <a:r>
              <a:rPr lang="en-IN" dirty="0">
                <a:latin typeface="+mn-lt"/>
              </a:rPr>
              <a:t>DenseNet-121 [4] - Convolutional neural network architecture for spatial feature extraction</a:t>
            </a:r>
          </a:p>
          <a:p>
            <a:r>
              <a:rPr lang="en-IN" dirty="0" err="1">
                <a:latin typeface="+mn-lt"/>
              </a:rPr>
              <a:t>BiGRU</a:t>
            </a:r>
            <a:r>
              <a:rPr lang="en-IN" dirty="0">
                <a:latin typeface="+mn-lt"/>
              </a:rPr>
              <a:t> [5] - Bidirectional Gated Recurrent Unit for temporal consistency </a:t>
            </a:r>
            <a:r>
              <a:rPr lang="en-IN" dirty="0" err="1">
                <a:latin typeface="+mn-lt"/>
              </a:rPr>
              <a:t>modeling</a:t>
            </a:r>
            <a:endParaRPr lang="en-IN" dirty="0">
              <a:latin typeface="+mn-lt"/>
            </a:endParaRPr>
          </a:p>
          <a:p>
            <a:r>
              <a:rPr lang="en-IN" dirty="0">
                <a:latin typeface="+mn-lt"/>
              </a:rPr>
              <a:t>Grad-CAM [6] - Gradient-weighted Class Activation Mapping for explainability and attention visualization</a:t>
            </a:r>
          </a:p>
          <a:p>
            <a:r>
              <a:rPr lang="en-IN" dirty="0">
                <a:latin typeface="+mn-lt"/>
              </a:rPr>
              <a:t>GDPR [16] - General Data Protection Regulation for privacy compliance and data protection guidelines</a:t>
            </a:r>
          </a:p>
          <a:p>
            <a:r>
              <a:rPr lang="en-IN" dirty="0">
                <a:latin typeface="+mn-lt"/>
              </a:rPr>
              <a:t>Misinformation Research [18] - Studies on false negative risks and misinformation spread</a:t>
            </a:r>
          </a:p>
          <a:p>
            <a:r>
              <a:rPr lang="en-IN" dirty="0">
                <a:latin typeface="+mn-lt"/>
              </a:rPr>
              <a:t>Demographic Bias Research [22] - Research on MTCNN performance variations across demographics</a:t>
            </a:r>
          </a:p>
          <a:p>
            <a:pPr marL="76200" indent="0">
              <a:buNone/>
            </a:pPr>
            <a:endParaRPr lang="en-IN" dirty="0">
              <a:latin typeface="+mn-lt"/>
            </a:endParaRPr>
          </a:p>
          <a:p>
            <a:pPr marL="76200" indent="0">
              <a:buNone/>
            </a:pPr>
            <a:r>
              <a:rPr lang="en-IN">
                <a:latin typeface="+mn-lt"/>
              </a:rPr>
              <a:t>(References From </a:t>
            </a:r>
            <a:r>
              <a:rPr lang="en-IN" dirty="0">
                <a:latin typeface="+mn-lt"/>
              </a:rPr>
              <a:t>The Report)</a:t>
            </a:r>
          </a:p>
        </p:txBody>
      </p:sp>
    </p:spTree>
    <p:extLst>
      <p:ext uri="{BB962C8B-B14F-4D97-AF65-F5344CB8AC3E}">
        <p14:creationId xmlns:p14="http://schemas.microsoft.com/office/powerpoint/2010/main" val="406563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A2FF4034-BB28-FDF1-6822-56E138EE9FD1}"/>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DB934040-59FB-9B8F-5AD8-F460587915DD}"/>
              </a:ext>
            </a:extLst>
          </p:cNvPr>
          <p:cNvSpPr txBox="1">
            <a:spLocks noGrp="1"/>
          </p:cNvSpPr>
          <p:nvPr>
            <p:ph type="title"/>
          </p:nvPr>
        </p:nvSpPr>
        <p:spPr>
          <a:xfrm>
            <a:off x="812800" y="365850"/>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sz="2000" dirty="0">
                <a:latin typeface="+mj-lt"/>
                <a:ea typeface="Cambria" panose="02040503050406030204" pitchFamily="18" charset="0"/>
              </a:rPr>
              <a:t>GITHUB LINK</a:t>
            </a:r>
          </a:p>
        </p:txBody>
      </p:sp>
      <p:sp>
        <p:nvSpPr>
          <p:cNvPr id="115" name="Google Shape;115;p17">
            <a:extLst>
              <a:ext uri="{FF2B5EF4-FFF2-40B4-BE49-F238E27FC236}">
                <a16:creationId xmlns:a16="http://schemas.microsoft.com/office/drawing/2014/main" id="{D2FA4F30-2787-110D-2729-D8AF8EC0B2CC}"/>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mj-lt"/>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mj-lt"/>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mj-lt"/>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mj-lt"/>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mj-lt"/>
              <a:ea typeface="Cambria" panose="02040503050406030204" pitchFamily="18" charset="0"/>
            </a:endParaRPr>
          </a:p>
        </p:txBody>
      </p:sp>
      <p:sp>
        <p:nvSpPr>
          <p:cNvPr id="4" name="Google Shape;115;p17">
            <a:extLst>
              <a:ext uri="{FF2B5EF4-FFF2-40B4-BE49-F238E27FC236}">
                <a16:creationId xmlns:a16="http://schemas.microsoft.com/office/drawing/2014/main" id="{B524CB74-09FE-9C8D-BC71-9781580EBB4C}"/>
              </a:ext>
            </a:extLst>
          </p:cNvPr>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mj-lt"/>
              <a:ea typeface="Cambria" panose="02040503050406030204" pitchFamily="18" charset="0"/>
            </a:endParaRPr>
          </a:p>
          <a:p>
            <a:pPr marL="342900" indent="-190500" algn="just">
              <a:spcBef>
                <a:spcPts val="0"/>
              </a:spcBef>
              <a:buSzPct val="100000"/>
              <a:buFont typeface="Arial"/>
              <a:buNone/>
            </a:pPr>
            <a:endParaRPr lang="en-US" dirty="0">
              <a:latin typeface="+mj-lt"/>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mj-lt"/>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mj-lt"/>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mj-lt"/>
              <a:ea typeface="Cambria" panose="02040503050406030204" pitchFamily="18" charset="0"/>
            </a:endParaRPr>
          </a:p>
        </p:txBody>
      </p:sp>
      <p:sp>
        <p:nvSpPr>
          <p:cNvPr id="5" name="Google Shape;115;p17">
            <a:extLst>
              <a:ext uri="{FF2B5EF4-FFF2-40B4-BE49-F238E27FC236}">
                <a16:creationId xmlns:a16="http://schemas.microsoft.com/office/drawing/2014/main" id="{9C48458C-705C-D7F4-AE8D-4BFBF8350F03}"/>
              </a:ext>
            </a:extLst>
          </p:cNvPr>
          <p:cNvSpPr txBox="1">
            <a:spLocks/>
          </p:cNvSpPr>
          <p:nvPr/>
        </p:nvSpPr>
        <p:spPr>
          <a:xfrm>
            <a:off x="812800" y="1295400"/>
            <a:ext cx="8900160" cy="889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sz="1800" b="1" dirty="0" err="1">
                <a:solidFill>
                  <a:schemeClr val="accent2">
                    <a:lumMod val="75000"/>
                  </a:schemeClr>
                </a:solidFill>
                <a:latin typeface="+mj-lt"/>
                <a:ea typeface="Cambria" panose="02040503050406030204" pitchFamily="18" charset="0"/>
              </a:rPr>
              <a:t>Github</a:t>
            </a:r>
            <a:r>
              <a:rPr lang="en-US" sz="1800" b="1" dirty="0">
                <a:solidFill>
                  <a:schemeClr val="accent2">
                    <a:lumMod val="75000"/>
                  </a:schemeClr>
                </a:solidFill>
                <a:latin typeface="+mj-lt"/>
                <a:ea typeface="Cambria" panose="02040503050406030204" pitchFamily="18" charset="0"/>
              </a:rPr>
              <a:t> Link</a:t>
            </a:r>
            <a:endParaRPr lang="en-US" sz="1800" dirty="0">
              <a:latin typeface="+mj-lt"/>
              <a:ea typeface="Cambria" panose="02040503050406030204" pitchFamily="18" charset="0"/>
            </a:endParaRPr>
          </a:p>
          <a:p>
            <a:pPr marL="342900" indent="-190500" algn="just">
              <a:lnSpc>
                <a:spcPct val="200000"/>
              </a:lnSpc>
              <a:spcBef>
                <a:spcPts val="0"/>
              </a:spcBef>
              <a:buSzPct val="100000"/>
              <a:buNone/>
            </a:pPr>
            <a:r>
              <a:rPr lang="en-US" sz="1600" dirty="0">
                <a:solidFill>
                  <a:schemeClr val="accent5">
                    <a:lumMod val="50000"/>
                  </a:schemeClr>
                </a:solidFill>
                <a:highlight>
                  <a:srgbClr val="FFFF00"/>
                </a:highlight>
                <a:latin typeface="+mj-lt"/>
                <a:ea typeface="Cambria" panose="02040503050406030204" pitchFamily="18" charset="0"/>
              </a:rPr>
              <a:t>https://github.com/SandeepKumar-san/CSG31_PSCS314_DEEPFAKE-DETECTION</a:t>
            </a:r>
          </a:p>
          <a:p>
            <a:pPr marL="342900" indent="-190500" algn="just">
              <a:lnSpc>
                <a:spcPct val="200000"/>
              </a:lnSpc>
              <a:spcBef>
                <a:spcPts val="0"/>
              </a:spcBef>
              <a:buSzPct val="100000"/>
              <a:buFont typeface="Arial"/>
              <a:buNone/>
            </a:pPr>
            <a:endParaRPr lang="en-US" dirty="0">
              <a:latin typeface="+mj-lt"/>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mj-lt"/>
              <a:ea typeface="Cambria" panose="02040503050406030204" pitchFamily="18" charset="0"/>
            </a:endParaRPr>
          </a:p>
        </p:txBody>
      </p:sp>
    </p:spTree>
    <p:extLst>
      <p:ext uri="{BB962C8B-B14F-4D97-AF65-F5344CB8AC3E}">
        <p14:creationId xmlns:p14="http://schemas.microsoft.com/office/powerpoint/2010/main" val="1607479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d450f434-8884-451b-956f-1819749fd74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81DDB871361914C92E59AEC9AD0EF2A" ma:contentTypeVersion="10" ma:contentTypeDescription="Create a new document." ma:contentTypeScope="" ma:versionID="8cd229de15c1096e0f11a07052de889c">
  <xsd:schema xmlns:xsd="http://www.w3.org/2001/XMLSchema" xmlns:xs="http://www.w3.org/2001/XMLSchema" xmlns:p="http://schemas.microsoft.com/office/2006/metadata/properties" xmlns:ns3="d450f434-8884-451b-956f-1819749fd748" targetNamespace="http://schemas.microsoft.com/office/2006/metadata/properties" ma:root="true" ma:fieldsID="0dd65abc612a32fe00759cd589969e5b" ns3:_="">
    <xsd:import namespace="d450f434-8884-451b-956f-1819749fd748"/>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50f434-8884-451b-956f-1819749fd7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0195DC0-2B0E-42B3-A622-E2CDACDB8599}">
  <ds:schemaRefs>
    <ds:schemaRef ds:uri="http://www.w3.org/XML/1998/namespace"/>
    <ds:schemaRef ds:uri="http://schemas.microsoft.com/office/2006/documentManagement/types"/>
    <ds:schemaRef ds:uri="http://purl.org/dc/elements/1.1/"/>
    <ds:schemaRef ds:uri="http://purl.org/dc/dcmitype/"/>
    <ds:schemaRef ds:uri="http://purl.org/dc/terms/"/>
    <ds:schemaRef ds:uri="d450f434-8884-451b-956f-1819749fd748"/>
    <ds:schemaRef ds:uri="http://schemas.microsoft.com/office/2006/metadata/properties"/>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4E52B59E-83A0-425F-B787-3BC304F9A894}">
  <ds:schemaRefs>
    <ds:schemaRef ds:uri="http://schemas.microsoft.com/sharepoint/v3/contenttype/forms"/>
  </ds:schemaRefs>
</ds:datastoreItem>
</file>

<file path=customXml/itemProps3.xml><?xml version="1.0" encoding="utf-8"?>
<ds:datastoreItem xmlns:ds="http://schemas.openxmlformats.org/officeDocument/2006/customXml" ds:itemID="{4B8BB72E-3151-4719-A471-684228DBF7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50f434-8884-451b-956f-1819749fd74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937</TotalTime>
  <Words>1170</Words>
  <Application>Microsoft Office PowerPoint</Application>
  <PresentationFormat>Widescreen</PresentationFormat>
  <Paragraphs>96</Paragraphs>
  <Slides>17</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Verdana</vt:lpstr>
      <vt:lpstr>Bioinformatics</vt:lpstr>
      <vt:lpstr>Development of AI/ML based solution for detection of face-swap based deep fake videos</vt:lpstr>
      <vt:lpstr>DETAILS</vt:lpstr>
      <vt:lpstr>Problem Statement</vt:lpstr>
      <vt:lpstr>Index</vt:lpstr>
      <vt:lpstr>THE PROBLEM EXPLANATION</vt:lpstr>
      <vt:lpstr>GAP AND OBJECTIVE</vt:lpstr>
      <vt:lpstr>ARCHITECTURE OVERVIEW</vt:lpstr>
      <vt:lpstr>DATASET AND TRAINING</vt:lpstr>
      <vt:lpstr>CORE METHODOLOGY</vt:lpstr>
      <vt:lpstr>EXPLAINABILITY</vt:lpstr>
      <vt:lpstr>RESULTS</vt:lpstr>
      <vt:lpstr>APPLICATION AND ETHICS</vt:lpstr>
      <vt:lpstr>CONCLUSION</vt:lpstr>
      <vt:lpstr>GANTT CHART</vt:lpstr>
      <vt:lpstr>REFERENCES</vt:lpstr>
      <vt:lpstr>GITHUB LINK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Sandeep Kumar</cp:lastModifiedBy>
  <cp:revision>53</cp:revision>
  <dcterms:modified xsi:type="dcterms:W3CDTF">2025-12-09T08:46:22Z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0x010100881DDB871361914C92E59AEC9AD0EF2A</vt:lpwstr>
  </property>
</Properties>
</file>