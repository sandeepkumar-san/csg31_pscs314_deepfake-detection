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6"/>
  </p:notesMasterIdLst>
  <p:sldIdLst>
    <p:sldId id="256" r:id="rId5"/>
    <p:sldId id="269" r:id="rId6"/>
    <p:sldId id="272" r:id="rId7"/>
    <p:sldId id="257" r:id="rId8"/>
    <p:sldId id="274" r:id="rId9"/>
    <p:sldId id="275" r:id="rId10"/>
    <p:sldId id="276" r:id="rId11"/>
    <p:sldId id="268" r:id="rId12"/>
    <p:sldId id="270" r:id="rId13"/>
    <p:sldId id="265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9BEB1CA1-08EB-EB77-14F2-CE7DAABC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715A8594-4B30-CBFF-0972-D6B1D25220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431563C1-2016-4BC1-A0F6-F530149753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0968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32C861A-06C9-EA38-A599-5E70EC3BE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8AF912F9-5560-C854-BBC1-0D40445B2B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F9AE90DB-3387-F229-5152-073983087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37573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1442720" y="1069102"/>
            <a:ext cx="933704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400" dirty="0">
                <a:solidFill>
                  <a:schemeClr val="tx1"/>
                </a:solidFill>
                <a:latin typeface="+mj-lt"/>
                <a:ea typeface="Cambria" panose="02040503050406030204" pitchFamily="18" charset="0"/>
              </a:rPr>
              <a:t>Development of AI/ML based solution for detection</a:t>
            </a:r>
            <a:br>
              <a:rPr lang="en-US" sz="1400" dirty="0">
                <a:solidFill>
                  <a:schemeClr val="tx1"/>
                </a:solidFill>
                <a:latin typeface="+mj-lt"/>
                <a:ea typeface="Cambria" panose="02040503050406030204" pitchFamily="18" charset="0"/>
              </a:rPr>
            </a:br>
            <a:r>
              <a:rPr lang="en-US" sz="1400" dirty="0">
                <a:solidFill>
                  <a:schemeClr val="tx1"/>
                </a:solidFill>
                <a:latin typeface="+mj-lt"/>
                <a:ea typeface="Cambria" panose="02040503050406030204" pitchFamily="18" charset="0"/>
              </a:rPr>
              <a:t>of face-swap based deep fake videos</a:t>
            </a:r>
            <a:endParaRPr sz="1400" dirty="0">
              <a:solidFill>
                <a:schemeClr val="tx1"/>
              </a:solidFill>
              <a:latin typeface="+mj-lt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485669" y="2197752"/>
            <a:ext cx="2816332" cy="47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400" dirty="0">
                <a:latin typeface="+mj-lt"/>
                <a:ea typeface="Cambria" panose="02040503050406030204" pitchFamily="18" charset="0"/>
              </a:rPr>
              <a:t>Batch Number: </a:t>
            </a:r>
            <a:r>
              <a:rPr lang="en-IN" sz="1400" dirty="0">
                <a:latin typeface="+mj-lt"/>
                <a:ea typeface="Cambria" panose="02040503050406030204" pitchFamily="18" charset="0"/>
              </a:rPr>
              <a:t>PSCS_314</a:t>
            </a:r>
            <a:endParaRPr sz="1400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049155" y="2885440"/>
            <a:ext cx="4657177" cy="1451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b="1" i="0" u="none" strike="noStrike" cap="none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dirty="0">
              <a:latin typeface="+mj-lt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b="1" i="0" u="none" strike="noStrike" cap="none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Mr.</a:t>
            </a:r>
            <a:r>
              <a:rPr lang="en-GB" b="1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IN" b="1" dirty="0">
                <a:latin typeface="+mj-lt"/>
              </a:rPr>
              <a:t>Himansu Shekar Rout</a:t>
            </a:r>
            <a:endParaRPr lang="en-GB" b="1" i="0" u="none" strike="noStrike" cap="none" dirty="0">
              <a:solidFill>
                <a:srgbClr val="17365D"/>
              </a:solidFill>
              <a:latin typeface="+mj-lt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b="1" i="0" u="none" strike="noStrike" cap="none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lang="en-GB" dirty="0">
              <a:latin typeface="+mj-lt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b="1" i="0" u="none" strike="noStrike" cap="none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+mj-lt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b="1" i="0" u="none" strike="noStrike" cap="none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+mj-lt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b="1" i="0" u="none" strike="noStrike" cap="none" dirty="0">
              <a:solidFill>
                <a:srgbClr val="17365D"/>
              </a:solidFill>
              <a:latin typeface="+mj-lt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442720" y="136441"/>
            <a:ext cx="9337040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2000" b="1" i="0" u="none" strike="noStrike" cap="none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2000" dirty="0">
              <a:latin typeface="+mj-lt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2000" b="1" i="0" u="none" strike="noStrike" cap="none" dirty="0">
              <a:solidFill>
                <a:srgbClr val="17365D"/>
              </a:solidFill>
              <a:latin typeface="+mj-lt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485668" y="4826001"/>
            <a:ext cx="6563487" cy="126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chemeClr val="accent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b="1" i="0" u="none" strike="noStrike" cap="none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Verdana"/>
              </a:rPr>
              <a:t>CSG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b="1" dirty="0">
                <a:solidFill>
                  <a:schemeClr val="accent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b="1" dirty="0">
                <a:latin typeface="+mj-lt"/>
              </a:rPr>
              <a:t>Dr. Anandaraj S.P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b="1" i="0" u="none" strike="noStrike" cap="none" dirty="0">
                <a:solidFill>
                  <a:schemeClr val="accent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b="1" dirty="0">
                <a:latin typeface="+mj-lt"/>
              </a:rPr>
              <a:t>Dr. </a:t>
            </a:r>
            <a:r>
              <a:rPr lang="en-IN" b="1" dirty="0" err="1">
                <a:latin typeface="+mj-lt"/>
              </a:rPr>
              <a:t>Sharmasth</a:t>
            </a:r>
            <a:r>
              <a:rPr lang="en-IN" b="1" dirty="0">
                <a:latin typeface="+mj-lt"/>
              </a:rPr>
              <a:t> Vali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b="1" dirty="0">
                <a:solidFill>
                  <a:schemeClr val="accent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b="1" i="0" u="none" strike="noStrike" cap="none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b="1" i="0" u="none" strike="noStrike" cap="none" dirty="0">
              <a:solidFill>
                <a:schemeClr val="tx1"/>
              </a:solidFill>
              <a:latin typeface="+mj-lt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6E5F89-EEF8-0122-7FF9-5F206F574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015512"/>
              </p:ext>
            </p:extLst>
          </p:nvPr>
        </p:nvGraphicFramePr>
        <p:xfrm>
          <a:off x="485668" y="2885440"/>
          <a:ext cx="5610332" cy="1451184"/>
        </p:xfrm>
        <a:graphic>
          <a:graphicData uri="http://schemas.openxmlformats.org/drawingml/2006/table">
            <a:tbl>
              <a:tblPr firstRow="1" bandRow="1"/>
              <a:tblGrid>
                <a:gridCol w="2789725">
                  <a:extLst>
                    <a:ext uri="{9D8B030D-6E8A-4147-A177-3AD203B41FA5}">
                      <a16:colId xmlns:a16="http://schemas.microsoft.com/office/drawing/2014/main" val="4087889410"/>
                    </a:ext>
                  </a:extLst>
                </a:gridCol>
                <a:gridCol w="2820607">
                  <a:extLst>
                    <a:ext uri="{9D8B030D-6E8A-4147-A177-3AD203B41FA5}">
                      <a16:colId xmlns:a16="http://schemas.microsoft.com/office/drawing/2014/main" val="2829666176"/>
                    </a:ext>
                  </a:extLst>
                </a:gridCol>
              </a:tblGrid>
              <a:tr h="36279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NAME</a:t>
                      </a:r>
                      <a:endParaRPr lang="en-IN" b="1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ROLL_NO</a:t>
                      </a:r>
                      <a:endParaRPr lang="en-IN" b="1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013183"/>
                  </a:ext>
                </a:extLst>
              </a:tr>
              <a:tr h="36279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 SANDEEP KUMAR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20221CSG0136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283524"/>
                  </a:ext>
                </a:extLst>
              </a:tr>
              <a:tr h="36279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YOGESH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20221CS0G128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371901"/>
                  </a:ext>
                </a:extLst>
              </a:tr>
              <a:tr h="36279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 PRAJWAL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20221CS0G161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6284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46767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 sz="2000" dirty="0">
                <a:latin typeface="+mn-lt"/>
                <a:ea typeface="Cambria" panose="02040503050406030204" pitchFamily="18" charset="0"/>
              </a:rPr>
              <a:t>DETAILS</a:t>
            </a:r>
            <a:endParaRPr sz="2000" dirty="0">
              <a:latin typeface="+mn-lt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3246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bg2"/>
                </a:solidFill>
                <a:latin typeface="+mn-lt"/>
                <a:ea typeface="Cambria" panose="02040503050406030204" pitchFamily="18" charset="0"/>
              </a:rPr>
              <a:t>Organization:</a:t>
            </a:r>
            <a:r>
              <a:rPr lang="en-US" sz="1400" b="1" dirty="0">
                <a:latin typeface="+mn-lt"/>
                <a:ea typeface="Cambria" panose="02040503050406030204" pitchFamily="18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+mn-lt"/>
                <a:ea typeface="Cambria" panose="02040503050406030204" pitchFamily="18" charset="0"/>
              </a:rPr>
              <a:t>National Technical Research </a:t>
            </a:r>
            <a:r>
              <a:rPr lang="en-US" sz="1400" b="1" dirty="0" err="1">
                <a:solidFill>
                  <a:schemeClr val="tx1"/>
                </a:solidFill>
                <a:latin typeface="+mn-lt"/>
                <a:ea typeface="Cambria" panose="02040503050406030204" pitchFamily="18" charset="0"/>
              </a:rPr>
              <a:t>Organisation</a:t>
            </a:r>
            <a:r>
              <a:rPr lang="en-US" sz="1400" b="1" dirty="0">
                <a:solidFill>
                  <a:schemeClr val="tx1"/>
                </a:solidFill>
                <a:latin typeface="+mn-lt"/>
                <a:ea typeface="Cambria" panose="02040503050406030204" pitchFamily="18" charset="0"/>
              </a:rPr>
              <a:t> (NTRO)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bg2"/>
                </a:solidFill>
                <a:latin typeface="+mn-lt"/>
                <a:ea typeface="Cambria" panose="02040503050406030204" pitchFamily="18" charset="0"/>
              </a:rPr>
              <a:t>Category: </a:t>
            </a:r>
            <a:r>
              <a:rPr lang="en-US" sz="1400" b="1" dirty="0">
                <a:solidFill>
                  <a:schemeClr val="tx1"/>
                </a:solidFill>
                <a:latin typeface="+mn-lt"/>
                <a:ea typeface="Cambria" panose="02040503050406030204" pitchFamily="18" charset="0"/>
              </a:rPr>
              <a:t>Software.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bg2"/>
                </a:solidFill>
                <a:latin typeface="+mn-lt"/>
                <a:ea typeface="Cambria" panose="02040503050406030204" pitchFamily="18" charset="0"/>
              </a:rPr>
              <a:t>Problem Description</a:t>
            </a:r>
            <a:r>
              <a:rPr lang="en-US" sz="1400" b="1" dirty="0">
                <a:latin typeface="+mn-lt"/>
                <a:ea typeface="Cambria" panose="02040503050406030204" pitchFamily="18" charset="0"/>
              </a:rPr>
              <a:t>:</a:t>
            </a:r>
          </a:p>
          <a:p>
            <a:pPr marL="323850" indent="-171450" algn="just">
              <a:lnSpc>
                <a:spcPct val="200000"/>
              </a:lnSpc>
              <a:spcBef>
                <a:spcPts val="0"/>
              </a:spcBef>
            </a:pPr>
            <a:r>
              <a:rPr lang="en-US" sz="1200" dirty="0">
                <a:latin typeface="+mn-lt"/>
              </a:rPr>
              <a:t>This project is the development and evaluation of an AI/ML solution to detect </a:t>
            </a:r>
            <a:r>
              <a:rPr lang="en-US" sz="1200" b="1" dirty="0">
                <a:latin typeface="+mn-lt"/>
              </a:rPr>
              <a:t>face-swap deepfake videos</a:t>
            </a:r>
            <a:r>
              <a:rPr lang="en-US" sz="1200" dirty="0">
                <a:latin typeface="+mn-lt"/>
              </a:rPr>
              <a:t>, focusing on a </a:t>
            </a:r>
            <a:r>
              <a:rPr lang="en-US" sz="1200" b="1" dirty="0">
                <a:latin typeface="+mn-lt"/>
              </a:rPr>
              <a:t>Recurrent Convolutional Strategy</a:t>
            </a:r>
            <a:r>
              <a:rPr lang="en-US" sz="1200" dirty="0">
                <a:latin typeface="+mn-lt"/>
              </a:rPr>
              <a:t>.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200" dirty="0">
                <a:latin typeface="+mn-lt"/>
              </a:rPr>
              <a:t>The core of the project is a </a:t>
            </a:r>
            <a:r>
              <a:rPr lang="en-US" sz="1200" b="1" dirty="0">
                <a:latin typeface="+mn-lt"/>
              </a:rPr>
              <a:t>hybrid CNN-LSTM model</a:t>
            </a:r>
            <a:r>
              <a:rPr lang="en-US" sz="1200" dirty="0">
                <a:latin typeface="+mn-lt"/>
              </a:rPr>
              <a:t> designed to analyze videos for both </a:t>
            </a:r>
            <a:r>
              <a:rPr lang="en-US" sz="1200" b="1" dirty="0">
                <a:latin typeface="+mn-lt"/>
              </a:rPr>
              <a:t>spatial artifacts</a:t>
            </a:r>
            <a:r>
              <a:rPr lang="en-US" sz="1200" dirty="0">
                <a:latin typeface="+mn-lt"/>
              </a:rPr>
              <a:t> (like unnatural textures in a single frame) and </a:t>
            </a:r>
            <a:r>
              <a:rPr lang="en-US" sz="1200" b="1" dirty="0">
                <a:latin typeface="+mn-lt"/>
              </a:rPr>
              <a:t>temporal inconsistencies</a:t>
            </a:r>
            <a:r>
              <a:rPr lang="en-US" sz="1200" dirty="0">
                <a:latin typeface="+mn-lt"/>
              </a:rPr>
              <a:t> (like flawed blinking patterns over time).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200" dirty="0">
                <a:latin typeface="+mn-lt"/>
              </a:rPr>
              <a:t>The models will be trained and tested on challenging public datasets like </a:t>
            </a:r>
            <a:r>
              <a:rPr lang="en-US" sz="1200" b="1" dirty="0" err="1">
                <a:latin typeface="+mn-lt"/>
              </a:rPr>
              <a:t>FaceForensics</a:t>
            </a:r>
            <a:r>
              <a:rPr lang="en-US" sz="1200" b="1" dirty="0">
                <a:latin typeface="+mn-lt"/>
              </a:rPr>
              <a:t>++</a:t>
            </a:r>
            <a:r>
              <a:rPr lang="en-US" sz="1200" dirty="0">
                <a:latin typeface="+mn-lt"/>
              </a:rPr>
              <a:t> and </a:t>
            </a:r>
            <a:r>
              <a:rPr lang="en-US" sz="1200" b="1" dirty="0">
                <a:latin typeface="+mn-lt"/>
              </a:rPr>
              <a:t>Celeb-DF</a:t>
            </a:r>
            <a:r>
              <a:rPr lang="en-US" sz="1200" dirty="0">
                <a:latin typeface="+mn-lt"/>
              </a:rPr>
              <a:t>, with the ultimate aim of demonstrating the superior effectiveness of a </a:t>
            </a:r>
            <a:r>
              <a:rPr lang="en-US" sz="1200" dirty="0" err="1">
                <a:latin typeface="+mn-lt"/>
              </a:rPr>
              <a:t>spatio</a:t>
            </a:r>
            <a:r>
              <a:rPr lang="en-US" sz="1200" dirty="0">
                <a:latin typeface="+mn-lt"/>
              </a:rPr>
              <a:t>-temporal model in combating sophisticated digital forgeries.</a:t>
            </a:r>
            <a:endParaRPr lang="en-US" sz="1200" dirty="0">
              <a:latin typeface="+mn-lt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680720" y="386398"/>
            <a:ext cx="1080008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sz="2000" dirty="0">
                <a:latin typeface="+mj-lt"/>
              </a:rPr>
              <a:t>Problem Statement</a:t>
            </a:r>
            <a:endParaRPr lang="en-US" sz="2000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C3A957-14A2-574C-561A-D0D1A1A8C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998041"/>
            <a:ext cx="10668000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b="1" dirty="0">
                <a:latin typeface="+mj-lt"/>
              </a:rPr>
              <a:t>The Challenge of Hyper-Realistic Deepfakes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b="1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200" b="1" dirty="0">
                <a:latin typeface="+mj-lt"/>
              </a:rPr>
              <a:t>(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problem statement number:</a:t>
            </a:r>
            <a:r>
              <a:rPr lang="en-IN" sz="1200" b="1" dirty="0">
                <a:latin typeface="+mj-lt"/>
                <a:ea typeface="Cambria" panose="02040503050406030204" pitchFamily="18" charset="0"/>
              </a:rPr>
              <a:t>PSCS_314</a:t>
            </a:r>
            <a:r>
              <a:rPr lang="en-US" sz="1200" b="1" dirty="0">
                <a:latin typeface="+mj-lt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rapid rise of Generative AI has enabled the creation of hyper-realistic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face-swap deepfake videos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blurring the line between authentic and synthetic media.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 technology poses a severe threat to society through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political disinformation, financial fraud, and personal defamation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Existing detection methods often fail to generalize against new forgery techniques and struggle to identify subtle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temporal inconsistencies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that reveal a video's true nature.</a:t>
            </a: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43280" y="396558"/>
            <a:ext cx="24892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2000" dirty="0">
                <a:latin typeface="+mn-lt"/>
                <a:ea typeface="Cambria" panose="02040503050406030204" pitchFamily="18" charset="0"/>
              </a:rPr>
              <a:t>OBJECTIVE</a:t>
            </a:r>
            <a:endParaRPr sz="2000" dirty="0">
              <a:latin typeface="+mn-lt"/>
              <a:ea typeface="Cambria" panose="020405030504060302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C29A37-D0DF-E6C8-5022-26ACC50A59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155593"/>
            <a:ext cx="107696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Create 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ode 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B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ase 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hat 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ligns 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with our Problem Statement.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 Analyzing Alternate Techniques to approach Our Problem.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200" dirty="0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 Getting Familiar with Required Libraries and Dependencies.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200" dirty="0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 Sample test with a small instance of the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200" dirty="0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 Exposure to related research papers.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200" dirty="0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73760" y="34575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2000" dirty="0">
                <a:latin typeface="+mn-lt"/>
              </a:rPr>
              <a:t>Proposed Methodology</a:t>
            </a:r>
            <a:endParaRPr sz="2000" dirty="0">
              <a:latin typeface="+mn-lt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0377D3-6299-3F98-9A59-5EF675D00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360" y="3467854"/>
            <a:ext cx="112369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453C8C-F058-602D-85C8-4E38DFE1CEC6}"/>
              </a:ext>
            </a:extLst>
          </p:cNvPr>
          <p:cNvSpPr txBox="1"/>
          <p:nvPr/>
        </p:nvSpPr>
        <p:spPr>
          <a:xfrm>
            <a:off x="822960" y="1097280"/>
            <a:ext cx="527304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ALGORITHMS USED AND THEIR IMPLEMENTATION:</a:t>
            </a:r>
          </a:p>
          <a:p>
            <a:endParaRPr lang="en-US" sz="1200" b="1" dirty="0">
              <a:latin typeface="+mn-lt"/>
            </a:endParaRPr>
          </a:p>
          <a:p>
            <a:r>
              <a:rPr lang="en-IN" sz="1200" b="1" dirty="0">
                <a:latin typeface="+mn-lt"/>
              </a:rPr>
              <a:t>MTCNN (Multi-task Cascaded Convolutional Networks)</a:t>
            </a:r>
            <a:endParaRPr lang="en-IN" sz="1200" dirty="0">
              <a:latin typeface="+mn-lt"/>
            </a:endParaRPr>
          </a:p>
          <a:p>
            <a:r>
              <a:rPr lang="en-IN" sz="1200" dirty="0">
                <a:latin typeface="+mn-lt"/>
              </a:rPr>
              <a:t>   </a:t>
            </a:r>
            <a:r>
              <a:rPr lang="en-IN" sz="1200" b="1" dirty="0">
                <a:latin typeface="+mn-lt"/>
              </a:rPr>
              <a:t>Purpose: </a:t>
            </a:r>
            <a:r>
              <a:rPr lang="en-IN" sz="1200" dirty="0">
                <a:latin typeface="+mn-lt"/>
              </a:rPr>
              <a:t>Face detection and landmark extraction</a:t>
            </a:r>
          </a:p>
          <a:p>
            <a:r>
              <a:rPr lang="en-IN" sz="1200" dirty="0">
                <a:latin typeface="+mn-lt"/>
              </a:rPr>
              <a:t>   </a:t>
            </a:r>
            <a:r>
              <a:rPr lang="en-IN" sz="1200" b="1" dirty="0">
                <a:latin typeface="+mn-lt"/>
              </a:rPr>
              <a:t>How it works:</a:t>
            </a:r>
          </a:p>
          <a:p>
            <a:r>
              <a:rPr lang="en-IN" sz="1200" dirty="0">
                <a:latin typeface="+mn-lt"/>
              </a:rPr>
              <a:t>   - Three-stage cascade: P-Net, R-Net, O-Net</a:t>
            </a:r>
          </a:p>
          <a:p>
            <a:r>
              <a:rPr lang="en-IN" sz="1200" dirty="0">
                <a:latin typeface="+mn-lt"/>
              </a:rPr>
              <a:t>   - P-Net: Proposal generation for face candidates</a:t>
            </a:r>
          </a:p>
          <a:p>
            <a:r>
              <a:rPr lang="en-IN" sz="1200" dirty="0">
                <a:latin typeface="+mn-lt"/>
              </a:rPr>
              <a:t>   - R-Net: Refines proposals and removes false positives</a:t>
            </a:r>
          </a:p>
          <a:p>
            <a:r>
              <a:rPr lang="en-IN" sz="1200" dirty="0">
                <a:latin typeface="+mn-lt"/>
              </a:rPr>
              <a:t>   - O-Net: Final detection with 5 facial landmarks</a:t>
            </a:r>
          </a:p>
          <a:p>
            <a:r>
              <a:rPr lang="en-IN" sz="1200" dirty="0">
                <a:latin typeface="+mn-lt"/>
              </a:rPr>
              <a:t>   - Outputs: Bounding boxes, confidence scores, 5 key points</a:t>
            </a:r>
          </a:p>
          <a:p>
            <a:r>
              <a:rPr lang="en-IN" sz="1200" b="1" dirty="0">
                <a:latin typeface="+mn-lt"/>
              </a:rPr>
              <a:t>   Usage: </a:t>
            </a:r>
            <a:r>
              <a:rPr lang="en-IN" sz="1200" dirty="0" err="1">
                <a:latin typeface="+mn-lt"/>
              </a:rPr>
              <a:t>self.detector.detect</a:t>
            </a:r>
            <a:r>
              <a:rPr lang="en-IN" sz="1200" dirty="0">
                <a:latin typeface="+mn-lt"/>
              </a:rPr>
              <a:t>(</a:t>
            </a:r>
            <a:r>
              <a:rPr lang="en-IN" sz="1200" dirty="0" err="1">
                <a:latin typeface="+mn-lt"/>
              </a:rPr>
              <a:t>pil_frame</a:t>
            </a:r>
            <a:r>
              <a:rPr lang="en-IN" sz="1200" dirty="0">
                <a:latin typeface="+mn-lt"/>
              </a:rPr>
              <a:t>, landmarks=True)</a:t>
            </a:r>
          </a:p>
          <a:p>
            <a:endParaRPr lang="en-IN" sz="1200" dirty="0">
              <a:latin typeface="+mn-lt"/>
            </a:endParaRPr>
          </a:p>
          <a:p>
            <a:endParaRPr lang="en-IN" sz="1200" dirty="0">
              <a:latin typeface="+mn-lt"/>
            </a:endParaRPr>
          </a:p>
          <a:p>
            <a:r>
              <a:rPr lang="en-IN" sz="1200" b="1" dirty="0">
                <a:latin typeface="+mn-lt"/>
              </a:rPr>
              <a:t>SIMILARITY TRANSFORMATION (Affine Transformation)</a:t>
            </a:r>
            <a:endParaRPr lang="en-IN" sz="1200" dirty="0">
              <a:latin typeface="+mn-lt"/>
            </a:endParaRPr>
          </a:p>
          <a:p>
            <a:r>
              <a:rPr lang="en-IN" sz="1200" b="1" dirty="0">
                <a:latin typeface="+mn-lt"/>
              </a:rPr>
              <a:t>   Purpose: </a:t>
            </a:r>
            <a:r>
              <a:rPr lang="en-IN" sz="1200" dirty="0">
                <a:latin typeface="+mn-lt"/>
              </a:rPr>
              <a:t>Face alignment and normalization</a:t>
            </a:r>
          </a:p>
          <a:p>
            <a:r>
              <a:rPr lang="en-IN" sz="1200" b="1" dirty="0">
                <a:latin typeface="+mn-lt"/>
              </a:rPr>
              <a:t>   How it works:</a:t>
            </a:r>
          </a:p>
          <a:p>
            <a:r>
              <a:rPr lang="en-IN" sz="1200" dirty="0">
                <a:latin typeface="+mn-lt"/>
              </a:rPr>
              <a:t>   - Uses 5 facial landmarks from MTCNN</a:t>
            </a:r>
          </a:p>
          <a:p>
            <a:r>
              <a:rPr lang="en-IN" sz="1200" dirty="0">
                <a:latin typeface="+mn-lt"/>
              </a:rPr>
              <a:t>   - Calculates transformation matrix to standard pose</a:t>
            </a:r>
          </a:p>
          <a:p>
            <a:r>
              <a:rPr lang="en-IN" sz="1200" dirty="0">
                <a:latin typeface="+mn-lt"/>
              </a:rPr>
              <a:t>   - Applies scaling, rotation, and translation</a:t>
            </a:r>
          </a:p>
          <a:p>
            <a:r>
              <a:rPr lang="en-IN" sz="1200" dirty="0">
                <a:latin typeface="+mn-lt"/>
              </a:rPr>
              <a:t>   - Warps face to 224x224 standardized format</a:t>
            </a:r>
          </a:p>
          <a:p>
            <a:r>
              <a:rPr lang="en-IN" sz="1200" b="1" dirty="0">
                <a:latin typeface="+mn-lt"/>
              </a:rPr>
              <a:t>   Algorithm: </a:t>
            </a:r>
            <a:r>
              <a:rPr lang="en-IN" sz="1200" dirty="0">
                <a:latin typeface="+mn-lt"/>
              </a:rPr>
              <a:t>cv2.estimateAffinePartial2D() + cv2.warpAffine()</a:t>
            </a:r>
          </a:p>
          <a:p>
            <a:endParaRPr lang="en-IN" sz="1200" dirty="0">
              <a:latin typeface="+mn-lt"/>
            </a:endParaRPr>
          </a:p>
          <a:p>
            <a:endParaRPr lang="en-IN" sz="12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06BB4C-66EF-A012-689E-BF66D7D1875E}"/>
              </a:ext>
            </a:extLst>
          </p:cNvPr>
          <p:cNvSpPr txBox="1"/>
          <p:nvPr/>
        </p:nvSpPr>
        <p:spPr>
          <a:xfrm>
            <a:off x="6095999" y="1493520"/>
            <a:ext cx="466069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DENSENET-121 (Densely Connected Convolutional Networks)</a:t>
            </a:r>
            <a:endParaRPr lang="en-US" sz="1200" dirty="0"/>
          </a:p>
          <a:p>
            <a:r>
              <a:rPr lang="en-US" sz="1200" dirty="0"/>
              <a:t>   </a:t>
            </a:r>
            <a:r>
              <a:rPr lang="en-US" sz="1200" b="1" dirty="0"/>
              <a:t>Purpose:</a:t>
            </a:r>
            <a:r>
              <a:rPr lang="en-US" sz="1200" dirty="0"/>
              <a:t> Spatial feature extraction from face images</a:t>
            </a:r>
          </a:p>
          <a:p>
            <a:r>
              <a:rPr lang="en-US" sz="1200" dirty="0"/>
              <a:t>   </a:t>
            </a:r>
            <a:r>
              <a:rPr lang="en-US" sz="1200" b="1" dirty="0"/>
              <a:t>How it works:</a:t>
            </a:r>
          </a:p>
          <a:p>
            <a:r>
              <a:rPr lang="en-US" sz="1200" dirty="0"/>
              <a:t>   - Pre-trained on ImageNet for transfer learning</a:t>
            </a:r>
          </a:p>
          <a:p>
            <a:r>
              <a:rPr lang="en-US" sz="1200" dirty="0"/>
              <a:t>   - Dense blocks with skip connections</a:t>
            </a:r>
          </a:p>
          <a:p>
            <a:r>
              <a:rPr lang="en-US" sz="1200" dirty="0"/>
              <a:t>   - Feature reuse through concatenation</a:t>
            </a:r>
          </a:p>
          <a:p>
            <a:r>
              <a:rPr lang="en-US" sz="1200" dirty="0"/>
              <a:t>   - Extracts 1024-dimensional feature vectors</a:t>
            </a:r>
          </a:p>
          <a:p>
            <a:r>
              <a:rPr lang="en-US" sz="1200" dirty="0"/>
              <a:t>   - Removes final classification layer for feature extraction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b="1" dirty="0"/>
              <a:t>BIDIRECTIONAL GRU (Gated Recurrent Unit)</a:t>
            </a:r>
            <a:endParaRPr lang="en-US" sz="1200" dirty="0"/>
          </a:p>
          <a:p>
            <a:r>
              <a:rPr lang="en-US" sz="1200" b="1" dirty="0"/>
              <a:t>   Purpose: </a:t>
            </a:r>
            <a:r>
              <a:rPr lang="en-US" sz="1200" dirty="0"/>
              <a:t>Temporal sequence modeling</a:t>
            </a:r>
          </a:p>
          <a:p>
            <a:r>
              <a:rPr lang="en-US" sz="1200" b="1" dirty="0"/>
              <a:t>   How it works:</a:t>
            </a:r>
          </a:p>
          <a:p>
            <a:r>
              <a:rPr lang="en-US" sz="1200" dirty="0"/>
              <a:t>   - Processes 5-frame sequences bidirectionally</a:t>
            </a:r>
          </a:p>
          <a:p>
            <a:r>
              <a:rPr lang="en-US" sz="1200" dirty="0"/>
              <a:t>   - Forward GRU: processes frames 1→5</a:t>
            </a:r>
          </a:p>
          <a:p>
            <a:r>
              <a:rPr lang="en-US" sz="1200" dirty="0"/>
              <a:t>   - Backward GRU: processes frames 5→1</a:t>
            </a:r>
          </a:p>
          <a:p>
            <a:r>
              <a:rPr lang="en-US" sz="1200" dirty="0"/>
              <a:t>   - Combines temporal information from both directions</a:t>
            </a:r>
          </a:p>
          <a:p>
            <a:r>
              <a:rPr lang="en-US" sz="1200" dirty="0"/>
              <a:t>   - Hidden size: 512, Layers: 2, with dropout</a:t>
            </a:r>
          </a:p>
          <a:p>
            <a:r>
              <a:rPr lang="en-US" sz="1200" dirty="0"/>
              <a:t>   - Outputs concatenated </a:t>
            </a:r>
            <a:r>
              <a:rPr lang="en-US" sz="1200" dirty="0" err="1"/>
              <a:t>forward+backward</a:t>
            </a:r>
            <a:r>
              <a:rPr lang="en-US" sz="1200" dirty="0"/>
              <a:t> features (1024-dim)</a:t>
            </a: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7911B837-AA18-7E24-F660-2B0387563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9F88223-8D91-AC5D-15EB-8A7E22197C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3760" y="34575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2000" dirty="0">
                <a:latin typeface="+mn-lt"/>
              </a:rPr>
              <a:t>Proposed Methodology</a:t>
            </a:r>
            <a:endParaRPr sz="2000" dirty="0">
              <a:latin typeface="+mn-lt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F606B4-B5D0-8534-5E45-DAC13C07E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60" y="3467854"/>
            <a:ext cx="44805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42C8AF-AB46-3CE3-F9A7-01B963DECD32}"/>
              </a:ext>
            </a:extLst>
          </p:cNvPr>
          <p:cNvSpPr txBox="1"/>
          <p:nvPr/>
        </p:nvSpPr>
        <p:spPr>
          <a:xfrm>
            <a:off x="873760" y="1158240"/>
            <a:ext cx="52222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+mn-lt"/>
              </a:rPr>
              <a:t>ADAM OPTIMIZER</a:t>
            </a:r>
          </a:p>
          <a:p>
            <a:r>
              <a:rPr lang="en-IN" sz="1200" dirty="0">
                <a:latin typeface="+mn-lt"/>
              </a:rPr>
              <a:t>   </a:t>
            </a:r>
            <a:r>
              <a:rPr lang="en-IN" sz="1200" b="1" dirty="0">
                <a:latin typeface="+mn-lt"/>
              </a:rPr>
              <a:t>Purpose: </a:t>
            </a:r>
            <a:r>
              <a:rPr lang="en-IN" sz="1200" dirty="0">
                <a:latin typeface="+mn-lt"/>
              </a:rPr>
              <a:t>Gradient-based optimization</a:t>
            </a:r>
          </a:p>
          <a:p>
            <a:r>
              <a:rPr lang="en-IN" sz="1200" dirty="0">
                <a:latin typeface="+mn-lt"/>
              </a:rPr>
              <a:t>   </a:t>
            </a:r>
            <a:r>
              <a:rPr lang="en-IN" sz="1200" b="1" dirty="0">
                <a:latin typeface="+mn-lt"/>
              </a:rPr>
              <a:t>How it works:</a:t>
            </a:r>
          </a:p>
          <a:p>
            <a:r>
              <a:rPr lang="en-IN" sz="1200" dirty="0">
                <a:latin typeface="+mn-lt"/>
              </a:rPr>
              <a:t>   - Adaptive learning rates for each parameter</a:t>
            </a:r>
          </a:p>
          <a:p>
            <a:r>
              <a:rPr lang="en-IN" sz="1200" dirty="0">
                <a:latin typeface="+mn-lt"/>
              </a:rPr>
              <a:t>   - Combines momentum and RMSprop</a:t>
            </a:r>
          </a:p>
          <a:p>
            <a:r>
              <a:rPr lang="en-IN" sz="1200" dirty="0">
                <a:latin typeface="+mn-lt"/>
              </a:rPr>
              <a:t>   - Maintains moving averages of gradients and squared gradients</a:t>
            </a:r>
          </a:p>
          <a:p>
            <a:r>
              <a:rPr lang="en-IN" sz="1200" dirty="0">
                <a:latin typeface="+mn-lt"/>
              </a:rPr>
              <a:t>   - Learning rate: 1e-4</a:t>
            </a:r>
          </a:p>
          <a:p>
            <a:r>
              <a:rPr lang="en-IN" sz="1200" dirty="0">
                <a:latin typeface="+mn-lt"/>
              </a:rPr>
              <a:t>   - Automatic bias correction</a:t>
            </a:r>
          </a:p>
          <a:p>
            <a:endParaRPr lang="en-IN" sz="1200" dirty="0">
              <a:latin typeface="+mn-lt"/>
            </a:endParaRPr>
          </a:p>
          <a:p>
            <a:endParaRPr lang="en-IN" sz="1200" dirty="0">
              <a:latin typeface="+mn-lt"/>
            </a:endParaRPr>
          </a:p>
          <a:p>
            <a:r>
              <a:rPr lang="en-IN" sz="1200" b="1" dirty="0">
                <a:latin typeface="+mn-lt"/>
              </a:rPr>
              <a:t>GRAD-CAM (Gradient-weighted Class Activation Mapping)</a:t>
            </a:r>
            <a:endParaRPr lang="en-IN" sz="1200" dirty="0">
              <a:latin typeface="+mn-lt"/>
            </a:endParaRPr>
          </a:p>
          <a:p>
            <a:r>
              <a:rPr lang="en-IN" sz="1200" dirty="0">
                <a:latin typeface="+mn-lt"/>
              </a:rPr>
              <a:t>   </a:t>
            </a:r>
            <a:r>
              <a:rPr lang="en-IN" sz="1200" b="1" dirty="0">
                <a:latin typeface="+mn-lt"/>
              </a:rPr>
              <a:t>Purpose: </a:t>
            </a:r>
            <a:r>
              <a:rPr lang="en-IN" sz="1200" dirty="0">
                <a:latin typeface="+mn-lt"/>
              </a:rPr>
              <a:t>Visual explanation of model decisions</a:t>
            </a:r>
          </a:p>
          <a:p>
            <a:r>
              <a:rPr lang="en-IN" sz="1200" dirty="0">
                <a:latin typeface="+mn-lt"/>
              </a:rPr>
              <a:t>   </a:t>
            </a:r>
            <a:r>
              <a:rPr lang="en-IN" sz="1200" b="1" dirty="0">
                <a:latin typeface="+mn-lt"/>
              </a:rPr>
              <a:t>How it works:</a:t>
            </a:r>
          </a:p>
          <a:p>
            <a:r>
              <a:rPr lang="en-IN" sz="1200" dirty="0">
                <a:latin typeface="+mn-lt"/>
              </a:rPr>
              <a:t>   - Computes gradients of target class </a:t>
            </a:r>
            <a:r>
              <a:rPr lang="en-IN" sz="1200" dirty="0" err="1">
                <a:latin typeface="+mn-lt"/>
              </a:rPr>
              <a:t>w.r.t.</a:t>
            </a:r>
            <a:r>
              <a:rPr lang="en-IN" sz="1200" dirty="0">
                <a:latin typeface="+mn-lt"/>
              </a:rPr>
              <a:t> feature maps</a:t>
            </a:r>
          </a:p>
          <a:p>
            <a:r>
              <a:rPr lang="en-IN" sz="1200" dirty="0">
                <a:latin typeface="+mn-lt"/>
              </a:rPr>
              <a:t>   - Global average pooling of gradients gives importance weights</a:t>
            </a:r>
          </a:p>
          <a:p>
            <a:r>
              <a:rPr lang="en-IN" sz="1200" dirty="0">
                <a:latin typeface="+mn-lt"/>
              </a:rPr>
              <a:t>   - Weighted combination of feature maps creates heatmap</a:t>
            </a:r>
          </a:p>
          <a:p>
            <a:r>
              <a:rPr lang="en-IN" sz="1200" dirty="0">
                <a:latin typeface="+mn-lt"/>
              </a:rPr>
              <a:t>   - Shows which facial regions influence FAKE classification</a:t>
            </a:r>
          </a:p>
          <a:p>
            <a:r>
              <a:rPr lang="en-IN" sz="1200" dirty="0">
                <a:latin typeface="+mn-lt"/>
              </a:rPr>
              <a:t>   - Target layer: Final </a:t>
            </a:r>
            <a:r>
              <a:rPr lang="en-IN" sz="1200" dirty="0" err="1">
                <a:latin typeface="+mn-lt"/>
              </a:rPr>
              <a:t>DenseBlock</a:t>
            </a:r>
            <a:r>
              <a:rPr lang="en-IN" sz="1200" dirty="0">
                <a:latin typeface="+mn-lt"/>
              </a:rPr>
              <a:t> of DenseNet-121</a:t>
            </a:r>
          </a:p>
          <a:p>
            <a:endParaRPr lang="en-IN" sz="1200" dirty="0">
              <a:latin typeface="+mn-lt"/>
            </a:endParaRPr>
          </a:p>
          <a:p>
            <a:endParaRPr lang="en-IN" sz="12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42C0D4-6716-3F1B-592F-358102F8D63B}"/>
              </a:ext>
            </a:extLst>
          </p:cNvPr>
          <p:cNvSpPr txBox="1"/>
          <p:nvPr/>
        </p:nvSpPr>
        <p:spPr>
          <a:xfrm>
            <a:off x="6096000" y="1158240"/>
            <a:ext cx="468376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IMAGENET NORMALIZATION</a:t>
            </a:r>
            <a:endParaRPr lang="en-IN" sz="1200" dirty="0"/>
          </a:p>
          <a:p>
            <a:r>
              <a:rPr lang="en-IN" sz="1200" b="1" dirty="0"/>
              <a:t>   Purpose: </a:t>
            </a:r>
            <a:r>
              <a:rPr lang="en-IN" sz="1200" dirty="0"/>
              <a:t>Input preprocessing for pre-trained models</a:t>
            </a:r>
          </a:p>
          <a:p>
            <a:r>
              <a:rPr lang="en-IN" sz="1200" dirty="0"/>
              <a:t>   </a:t>
            </a:r>
            <a:r>
              <a:rPr lang="en-IN" sz="1200" b="1" dirty="0"/>
              <a:t>How it works:</a:t>
            </a:r>
          </a:p>
          <a:p>
            <a:r>
              <a:rPr lang="en-IN" sz="1200" dirty="0"/>
              <a:t>   - Normalizes pixel values to match ImageNet statistics</a:t>
            </a:r>
          </a:p>
          <a:p>
            <a:r>
              <a:rPr lang="en-IN" sz="1200" dirty="0"/>
              <a:t>   - Mean: [0.485, 0.456, 0.406] (RGB channels)</a:t>
            </a:r>
          </a:p>
          <a:p>
            <a:r>
              <a:rPr lang="en-IN" sz="1200" dirty="0"/>
              <a:t>   - Std: [0.229, 0.224, 0.225] (RGB channels)</a:t>
            </a:r>
          </a:p>
          <a:p>
            <a:r>
              <a:rPr lang="en-IN" sz="1200" dirty="0"/>
              <a:t>   - Formula: (pixel - mean) / std</a:t>
            </a:r>
          </a:p>
          <a:p>
            <a:r>
              <a:rPr lang="en-IN" sz="1200" dirty="0"/>
              <a:t>   - Ensures compatibility with pre-trained </a:t>
            </a:r>
            <a:r>
              <a:rPr lang="en-IN" sz="1200" dirty="0" err="1"/>
              <a:t>DenseNet</a:t>
            </a:r>
            <a:endParaRPr lang="en-IN" sz="1200" dirty="0"/>
          </a:p>
          <a:p>
            <a:endParaRPr lang="en-IN" sz="1200" dirty="0"/>
          </a:p>
          <a:p>
            <a:endParaRPr lang="en-IN" sz="1200" dirty="0"/>
          </a:p>
          <a:p>
            <a:r>
              <a:rPr lang="en-IN" sz="1200" b="1" dirty="0"/>
              <a:t>RANDOM SPLIT ALGORITHM</a:t>
            </a:r>
            <a:endParaRPr lang="en-IN" sz="1200" dirty="0"/>
          </a:p>
          <a:p>
            <a:r>
              <a:rPr lang="en-IN" sz="1200" b="1" dirty="0"/>
              <a:t>   Purpose:</a:t>
            </a:r>
            <a:r>
              <a:rPr lang="en-IN" sz="1200" dirty="0"/>
              <a:t> Dataset partitioning for training/validation/testing</a:t>
            </a:r>
          </a:p>
          <a:p>
            <a:r>
              <a:rPr lang="en-IN" sz="1200" dirty="0"/>
              <a:t>   </a:t>
            </a:r>
            <a:r>
              <a:rPr lang="en-IN" sz="1200" b="1" dirty="0"/>
              <a:t>How it works:</a:t>
            </a:r>
          </a:p>
          <a:p>
            <a:r>
              <a:rPr lang="en-IN" sz="1200" dirty="0"/>
              <a:t>   - Randomly splits the dataset into three subsets</a:t>
            </a:r>
          </a:p>
          <a:p>
            <a:r>
              <a:rPr lang="en-IN" sz="1200" dirty="0"/>
              <a:t>   - Train: 60%, Validation: 20%, Test: 20%</a:t>
            </a:r>
          </a:p>
          <a:p>
            <a:r>
              <a:rPr lang="en-IN" sz="1200" dirty="0"/>
              <a:t>   - Uses </a:t>
            </a:r>
            <a:r>
              <a:rPr lang="en-IN" sz="1200" dirty="0" err="1"/>
              <a:t>torch.utils.data.random_split</a:t>
            </a:r>
            <a:r>
              <a:rPr lang="en-IN" sz="1200" dirty="0"/>
              <a:t>()</a:t>
            </a:r>
          </a:p>
          <a:p>
            <a:r>
              <a:rPr lang="en-IN" sz="1200" dirty="0"/>
              <a:t>   - Ensures no data leakage between sets</a:t>
            </a:r>
          </a:p>
        </p:txBody>
      </p:sp>
    </p:spTree>
    <p:extLst>
      <p:ext uri="{BB962C8B-B14F-4D97-AF65-F5344CB8AC3E}">
        <p14:creationId xmlns:p14="http://schemas.microsoft.com/office/powerpoint/2010/main" val="3778770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D0331D23-BD4B-D118-B277-3A0DAB9A0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8E52B571-094A-5C9F-4F4C-45A259BF76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3760" y="34575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2000" dirty="0">
                <a:latin typeface="+mn-lt"/>
              </a:rPr>
              <a:t>Proposed Methodology</a:t>
            </a:r>
            <a:endParaRPr sz="2000" dirty="0">
              <a:latin typeface="+mn-lt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CA6521-D973-8774-87FD-505E9AC2C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60" y="3467854"/>
            <a:ext cx="44805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712E4E-3ECD-29FF-795F-B7DC032132E3}"/>
              </a:ext>
            </a:extLst>
          </p:cNvPr>
          <p:cNvSpPr txBox="1"/>
          <p:nvPr/>
        </p:nvSpPr>
        <p:spPr>
          <a:xfrm>
            <a:off x="873760" y="1158240"/>
            <a:ext cx="52222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+mn-lt"/>
              </a:rPr>
              <a:t>CONFUSION MATRIX CALCULATION</a:t>
            </a:r>
          </a:p>
          <a:p>
            <a:r>
              <a:rPr lang="en-IN" sz="1200" b="1" dirty="0">
                <a:latin typeface="+mn-lt"/>
              </a:rPr>
              <a:t>    Purpose: </a:t>
            </a:r>
            <a:r>
              <a:rPr lang="en-IN" sz="1200" dirty="0">
                <a:latin typeface="+mn-lt"/>
              </a:rPr>
              <a:t>Classification performance visualization</a:t>
            </a:r>
          </a:p>
          <a:p>
            <a:r>
              <a:rPr lang="en-IN" sz="1200" b="1" dirty="0">
                <a:latin typeface="+mn-lt"/>
              </a:rPr>
              <a:t>    How it works:</a:t>
            </a:r>
          </a:p>
          <a:p>
            <a:r>
              <a:rPr lang="en-IN" sz="1200" dirty="0">
                <a:latin typeface="+mn-lt"/>
              </a:rPr>
              <a:t>    - 2x2 matrix for binary classification</a:t>
            </a:r>
          </a:p>
          <a:p>
            <a:r>
              <a:rPr lang="en-IN" sz="1200" dirty="0">
                <a:latin typeface="+mn-lt"/>
              </a:rPr>
              <a:t>    - True Positives, False Positives, True Negatives, False Negatives</a:t>
            </a:r>
          </a:p>
          <a:p>
            <a:r>
              <a:rPr lang="en-IN" sz="1200" dirty="0">
                <a:latin typeface="+mn-lt"/>
              </a:rPr>
              <a:t>    - Visualized as heatmap using seaborn</a:t>
            </a:r>
          </a:p>
          <a:p>
            <a:r>
              <a:rPr lang="en-IN" sz="1200" dirty="0">
                <a:latin typeface="+mn-lt"/>
              </a:rPr>
              <a:t>    - Shows model's classification accuracy per class</a:t>
            </a:r>
          </a:p>
          <a:p>
            <a:endParaRPr lang="en-IN" sz="1200" dirty="0">
              <a:latin typeface="+mn-lt"/>
            </a:endParaRPr>
          </a:p>
          <a:p>
            <a:endParaRPr lang="en-IN" sz="1200" dirty="0">
              <a:latin typeface="+mn-lt"/>
            </a:endParaRPr>
          </a:p>
          <a:p>
            <a:r>
              <a:rPr lang="en-IN" sz="1200" b="1" dirty="0">
                <a:latin typeface="+mn-lt"/>
              </a:rPr>
              <a:t>ROC-AUC CALCULATION</a:t>
            </a:r>
          </a:p>
          <a:p>
            <a:r>
              <a:rPr lang="en-IN" sz="1200" b="1" dirty="0">
                <a:latin typeface="+mn-lt"/>
              </a:rPr>
              <a:t>    Purpose: </a:t>
            </a:r>
            <a:r>
              <a:rPr lang="en-IN" sz="1200" dirty="0">
                <a:latin typeface="+mn-lt"/>
              </a:rPr>
              <a:t>Model performance metric</a:t>
            </a:r>
          </a:p>
          <a:p>
            <a:r>
              <a:rPr lang="en-IN" sz="1200" dirty="0">
                <a:latin typeface="+mn-lt"/>
              </a:rPr>
              <a:t>    </a:t>
            </a:r>
            <a:r>
              <a:rPr lang="en-IN" sz="1200" b="1" dirty="0">
                <a:latin typeface="+mn-lt"/>
              </a:rPr>
              <a:t>How it works:</a:t>
            </a:r>
          </a:p>
          <a:p>
            <a:r>
              <a:rPr lang="en-IN" sz="1200" dirty="0">
                <a:latin typeface="+mn-lt"/>
              </a:rPr>
              <a:t>    - Receiver Operating Characteristic curve analysis</a:t>
            </a:r>
          </a:p>
          <a:p>
            <a:r>
              <a:rPr lang="en-IN" sz="1200" dirty="0">
                <a:latin typeface="+mn-lt"/>
              </a:rPr>
              <a:t>    - Area Under Curve measurement</a:t>
            </a:r>
          </a:p>
          <a:p>
            <a:r>
              <a:rPr lang="en-IN" sz="1200" dirty="0">
                <a:latin typeface="+mn-lt"/>
              </a:rPr>
              <a:t>    - Evaluates true positive vs false positive rates</a:t>
            </a:r>
          </a:p>
          <a:p>
            <a:r>
              <a:rPr lang="en-IN" sz="1200" dirty="0">
                <a:latin typeface="+mn-lt"/>
              </a:rPr>
              <a:t>    - Range: 0.5 (random) to 1.0 (perfect)</a:t>
            </a:r>
          </a:p>
          <a:p>
            <a:r>
              <a:rPr lang="en-IN" sz="1200" dirty="0">
                <a:latin typeface="+mn-lt"/>
              </a:rPr>
              <a:t>    - Handles single-class scenarios gracefully</a:t>
            </a:r>
          </a:p>
          <a:p>
            <a:endParaRPr lang="en-IN" sz="12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23D8D7-5D20-CDCA-A81A-B4BE4F22DA48}"/>
              </a:ext>
            </a:extLst>
          </p:cNvPr>
          <p:cNvSpPr txBox="1"/>
          <p:nvPr/>
        </p:nvSpPr>
        <p:spPr>
          <a:xfrm>
            <a:off x="6096000" y="1158240"/>
            <a:ext cx="560832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DATA FLOW PIPELINE:</a:t>
            </a:r>
            <a:r>
              <a:rPr lang="en-IN" dirty="0"/>
              <a:t>(in sequence)</a:t>
            </a:r>
          </a:p>
          <a:p>
            <a:endParaRPr lang="en-IN" sz="1200" dirty="0"/>
          </a:p>
          <a:p>
            <a:r>
              <a:rPr lang="en-IN" sz="1200" dirty="0"/>
              <a:t>1. </a:t>
            </a:r>
            <a:r>
              <a:rPr lang="en-IN" sz="1200" b="1" dirty="0"/>
              <a:t>INPUT:</a:t>
            </a:r>
            <a:r>
              <a:rPr lang="en-IN" sz="1200" dirty="0"/>
              <a:t> Video files (.mp4, .</a:t>
            </a:r>
            <a:r>
              <a:rPr lang="en-IN" sz="1200" dirty="0" err="1"/>
              <a:t>avi</a:t>
            </a:r>
            <a:r>
              <a:rPr lang="en-IN" sz="1200" dirty="0"/>
              <a:t>, .mov, .</a:t>
            </a:r>
            <a:r>
              <a:rPr lang="en-IN" sz="1200" dirty="0" err="1"/>
              <a:t>mkv</a:t>
            </a:r>
            <a:r>
              <a:rPr lang="en-IN" sz="1200" dirty="0"/>
              <a:t>)</a:t>
            </a:r>
          </a:p>
          <a:p>
            <a:r>
              <a:rPr lang="en-IN" sz="1200" b="1" dirty="0"/>
              <a:t>   </a:t>
            </a:r>
          </a:p>
          <a:p>
            <a:r>
              <a:rPr lang="en-IN" sz="1200" dirty="0"/>
              <a:t>2. </a:t>
            </a:r>
            <a:r>
              <a:rPr lang="en-IN" sz="1200" b="1" dirty="0"/>
              <a:t>FRAME EXTRACTION:</a:t>
            </a:r>
            <a:r>
              <a:rPr lang="en-IN" sz="1200" dirty="0"/>
              <a:t> OpenCV reads video frames</a:t>
            </a:r>
          </a:p>
          <a:p>
            <a:r>
              <a:rPr lang="en-IN" sz="1200" b="1" dirty="0"/>
              <a:t>   </a:t>
            </a:r>
          </a:p>
          <a:p>
            <a:r>
              <a:rPr lang="en-IN" sz="1200" dirty="0"/>
              <a:t>3. </a:t>
            </a:r>
            <a:r>
              <a:rPr lang="en-IN" sz="1200" b="1" dirty="0"/>
              <a:t>FACE DETECTION: </a:t>
            </a:r>
            <a:r>
              <a:rPr lang="en-IN" sz="1200" dirty="0"/>
              <a:t>MTCNN detects faces and landmarks</a:t>
            </a:r>
          </a:p>
          <a:p>
            <a:r>
              <a:rPr lang="en-IN" sz="1200" dirty="0"/>
              <a:t>  </a:t>
            </a:r>
            <a:r>
              <a:rPr lang="en-IN" sz="1200" b="1" dirty="0"/>
              <a:t> </a:t>
            </a:r>
          </a:p>
          <a:p>
            <a:r>
              <a:rPr lang="en-IN" sz="1200" dirty="0"/>
              <a:t>4. </a:t>
            </a:r>
            <a:r>
              <a:rPr lang="en-IN" sz="1200" b="1" dirty="0"/>
              <a:t>FACE ALIGNMENT:</a:t>
            </a:r>
            <a:r>
              <a:rPr lang="en-IN" sz="1200" dirty="0"/>
              <a:t> Similarity transformation normalizes pose</a:t>
            </a:r>
          </a:p>
          <a:p>
            <a:r>
              <a:rPr lang="en-IN" sz="1200" b="1" dirty="0"/>
              <a:t>   </a:t>
            </a:r>
          </a:p>
          <a:p>
            <a:r>
              <a:rPr lang="en-IN" sz="1200" dirty="0"/>
              <a:t>5. </a:t>
            </a:r>
            <a:r>
              <a:rPr lang="en-IN" sz="1200" b="1" dirty="0"/>
              <a:t>SEQUENCE FORMATION:</a:t>
            </a:r>
            <a:r>
              <a:rPr lang="en-IN" sz="1200" dirty="0"/>
              <a:t> Groups 5 consecutive aligned faces</a:t>
            </a:r>
          </a:p>
          <a:p>
            <a:r>
              <a:rPr lang="en-IN" sz="1200" b="1" dirty="0"/>
              <a:t>   </a:t>
            </a:r>
          </a:p>
          <a:p>
            <a:r>
              <a:rPr lang="en-IN" sz="1200" dirty="0"/>
              <a:t>6. </a:t>
            </a:r>
            <a:r>
              <a:rPr lang="en-IN" sz="1200" b="1" dirty="0"/>
              <a:t>PREPROCESSING: </a:t>
            </a:r>
            <a:r>
              <a:rPr lang="en-IN" sz="1200" dirty="0"/>
              <a:t>Resize to 224x224, ImageNet normalization</a:t>
            </a:r>
          </a:p>
          <a:p>
            <a:r>
              <a:rPr lang="en-IN" sz="1200" dirty="0"/>
              <a:t>  </a:t>
            </a:r>
            <a:r>
              <a:rPr lang="en-IN" sz="1200" b="1" dirty="0"/>
              <a:t> </a:t>
            </a:r>
          </a:p>
          <a:p>
            <a:r>
              <a:rPr lang="en-IN" sz="1200" dirty="0"/>
              <a:t>7. </a:t>
            </a:r>
            <a:r>
              <a:rPr lang="en-IN" sz="1200" b="1" dirty="0"/>
              <a:t>FEATURE EXTRACTION: </a:t>
            </a:r>
            <a:r>
              <a:rPr lang="en-IN" sz="1200" dirty="0"/>
              <a:t>DenseNet-121 extracts spatial features</a:t>
            </a:r>
          </a:p>
          <a:p>
            <a:r>
              <a:rPr lang="en-IN" sz="1200" dirty="0"/>
              <a:t>  </a:t>
            </a:r>
            <a:r>
              <a:rPr lang="en-IN" sz="1200" b="1" dirty="0"/>
              <a:t> </a:t>
            </a:r>
          </a:p>
          <a:p>
            <a:r>
              <a:rPr lang="en-IN" sz="1200" dirty="0"/>
              <a:t>8. </a:t>
            </a:r>
            <a:r>
              <a:rPr lang="en-IN" sz="1200" b="1" dirty="0"/>
              <a:t>TEMPORAL MODELING: </a:t>
            </a:r>
            <a:r>
              <a:rPr lang="en-IN" sz="1200" dirty="0"/>
              <a:t>Bidirectional GRU processes sequence</a:t>
            </a:r>
          </a:p>
          <a:p>
            <a:r>
              <a:rPr lang="en-IN" sz="1200" dirty="0"/>
              <a:t>  </a:t>
            </a:r>
            <a:r>
              <a:rPr lang="en-IN" sz="1200" b="1" dirty="0"/>
              <a:t> </a:t>
            </a:r>
          </a:p>
          <a:p>
            <a:r>
              <a:rPr lang="en-IN" sz="1200" dirty="0"/>
              <a:t>9. </a:t>
            </a:r>
            <a:r>
              <a:rPr lang="en-IN" sz="1200" b="1" dirty="0"/>
              <a:t>CLASSIFICATION: </a:t>
            </a:r>
            <a:r>
              <a:rPr lang="en-IN" sz="1200" dirty="0"/>
              <a:t>MLP outputs REAL/FAKE probability</a:t>
            </a:r>
          </a:p>
          <a:p>
            <a:r>
              <a:rPr lang="en-IN" sz="1200" dirty="0"/>
              <a:t>  </a:t>
            </a:r>
            <a:r>
              <a:rPr lang="en-IN" sz="1200" b="1" dirty="0"/>
              <a:t> </a:t>
            </a:r>
          </a:p>
          <a:p>
            <a:r>
              <a:rPr lang="en-IN" sz="1200" dirty="0"/>
              <a:t>10. </a:t>
            </a:r>
            <a:r>
              <a:rPr lang="en-IN" sz="1200" b="1" dirty="0"/>
              <a:t>TRAINING: </a:t>
            </a:r>
            <a:r>
              <a:rPr lang="en-IN" sz="1200" dirty="0"/>
              <a:t>Adam optimizer minimizes BCE loss</a:t>
            </a:r>
          </a:p>
          <a:p>
            <a:r>
              <a:rPr lang="en-IN" sz="1200" b="1" dirty="0"/>
              <a:t>    </a:t>
            </a:r>
          </a:p>
          <a:p>
            <a:r>
              <a:rPr lang="en-IN" sz="1200" dirty="0"/>
              <a:t>11. </a:t>
            </a:r>
            <a:r>
              <a:rPr lang="en-IN" sz="1200" b="1" dirty="0"/>
              <a:t>EVALUATION: </a:t>
            </a:r>
            <a:r>
              <a:rPr lang="en-IN" sz="1200" dirty="0"/>
              <a:t>Accuracy, ROC-AUC metrics on test set</a:t>
            </a:r>
          </a:p>
          <a:p>
            <a:r>
              <a:rPr lang="en-IN" sz="1200" dirty="0"/>
              <a:t>   </a:t>
            </a:r>
            <a:r>
              <a:rPr lang="en-IN" sz="1200" b="1" dirty="0"/>
              <a:t> </a:t>
            </a:r>
          </a:p>
          <a:p>
            <a:r>
              <a:rPr lang="en-IN" sz="1200" dirty="0"/>
              <a:t>12. </a:t>
            </a:r>
            <a:r>
              <a:rPr lang="en-IN" sz="1200" b="1" dirty="0"/>
              <a:t>EXPLANATION:</a:t>
            </a:r>
            <a:r>
              <a:rPr lang="en-IN" sz="1200" dirty="0"/>
              <a:t> Grad-CAM generates attention heatmaps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373165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36585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sz="2000" dirty="0">
                <a:latin typeface="+mj-lt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295400"/>
            <a:ext cx="656336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sz="1400" b="1" dirty="0" err="1">
                <a:solidFill>
                  <a:schemeClr val="accent2">
                    <a:lumMod val="75000"/>
                  </a:schemeClr>
                </a:solidFill>
                <a:latin typeface="+mj-lt"/>
                <a:ea typeface="Cambria" panose="02040503050406030204" pitchFamily="18" charset="0"/>
              </a:rPr>
              <a:t>Github</a:t>
            </a: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Cambria" panose="02040503050406030204" pitchFamily="18" charset="0"/>
              </a:rPr>
              <a:t> Link</a:t>
            </a:r>
            <a:endParaRPr lang="en-US" sz="4000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highlight>
                  <a:srgbClr val="FFFF00"/>
                </a:highlight>
                <a:latin typeface="+mj-lt"/>
                <a:ea typeface="Cambria" panose="02040503050406030204" pitchFamily="18" charset="0"/>
              </a:rPr>
              <a:t>https://github.com/SandeepKumar-san/CSG31_PSCS314_DEEPFAKE-DETECTION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777241" y="3762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2000" dirty="0">
                <a:latin typeface="+mn-lt"/>
                <a:ea typeface="Cambria" panose="02040503050406030204" pitchFamily="18" charset="0"/>
              </a:rPr>
              <a:t>Timeline of the Project (Gantt Chart)</a:t>
            </a:r>
            <a:endParaRPr sz="2000" dirty="0">
              <a:latin typeface="+mn-lt"/>
              <a:ea typeface="Cambria" panose="020405030504060302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917D62E-2357-3DC0-FB16-95E094618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990903"/>
              </p:ext>
            </p:extLst>
          </p:nvPr>
        </p:nvGraphicFramePr>
        <p:xfrm>
          <a:off x="777241" y="1381760"/>
          <a:ext cx="10668004" cy="4439918"/>
        </p:xfrm>
        <a:graphic>
          <a:graphicData uri="http://schemas.openxmlformats.org/drawingml/2006/table">
            <a:tbl>
              <a:tblPr/>
              <a:tblGrid>
                <a:gridCol w="1297811">
                  <a:extLst>
                    <a:ext uri="{9D8B030D-6E8A-4147-A177-3AD203B41FA5}">
                      <a16:colId xmlns:a16="http://schemas.microsoft.com/office/drawing/2014/main" val="2705611486"/>
                    </a:ext>
                  </a:extLst>
                </a:gridCol>
                <a:gridCol w="2881138">
                  <a:extLst>
                    <a:ext uri="{9D8B030D-6E8A-4147-A177-3AD203B41FA5}">
                      <a16:colId xmlns:a16="http://schemas.microsoft.com/office/drawing/2014/main" val="4070029851"/>
                    </a:ext>
                  </a:extLst>
                </a:gridCol>
                <a:gridCol w="1297811">
                  <a:extLst>
                    <a:ext uri="{9D8B030D-6E8A-4147-A177-3AD203B41FA5}">
                      <a16:colId xmlns:a16="http://schemas.microsoft.com/office/drawing/2014/main" val="1387437369"/>
                    </a:ext>
                  </a:extLst>
                </a:gridCol>
                <a:gridCol w="1297811">
                  <a:extLst>
                    <a:ext uri="{9D8B030D-6E8A-4147-A177-3AD203B41FA5}">
                      <a16:colId xmlns:a16="http://schemas.microsoft.com/office/drawing/2014/main" val="148831229"/>
                    </a:ext>
                  </a:extLst>
                </a:gridCol>
                <a:gridCol w="1297811">
                  <a:extLst>
                    <a:ext uri="{9D8B030D-6E8A-4147-A177-3AD203B41FA5}">
                      <a16:colId xmlns:a16="http://schemas.microsoft.com/office/drawing/2014/main" val="1394203083"/>
                    </a:ext>
                  </a:extLst>
                </a:gridCol>
                <a:gridCol w="1297811">
                  <a:extLst>
                    <a:ext uri="{9D8B030D-6E8A-4147-A177-3AD203B41FA5}">
                      <a16:colId xmlns:a16="http://schemas.microsoft.com/office/drawing/2014/main" val="83118214"/>
                    </a:ext>
                  </a:extLst>
                </a:gridCol>
                <a:gridCol w="1297811">
                  <a:extLst>
                    <a:ext uri="{9D8B030D-6E8A-4147-A177-3AD203B41FA5}">
                      <a16:colId xmlns:a16="http://schemas.microsoft.com/office/drawing/2014/main" val="2805866240"/>
                    </a:ext>
                  </a:extLst>
                </a:gridCol>
              </a:tblGrid>
              <a:tr h="63427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400" b="1">
                          <a:effectLst/>
                          <a:latin typeface="+mn-lt"/>
                        </a:rPr>
                        <a:t>Phase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400" b="1">
                          <a:effectLst/>
                          <a:latin typeface="+mn-lt"/>
                        </a:rPr>
                        <a:t>Task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400" b="1">
                          <a:effectLst/>
                          <a:latin typeface="+mn-lt"/>
                        </a:rPr>
                        <a:t>Weeks 1-2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400" b="1">
                          <a:effectLst/>
                          <a:latin typeface="+mn-lt"/>
                        </a:rPr>
                        <a:t>Weeks 3-4 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400" b="1">
                          <a:effectLst/>
                          <a:latin typeface="+mn-lt"/>
                        </a:rPr>
                        <a:t>Weeks 5-7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400" b="1">
                          <a:effectLst/>
                          <a:latin typeface="+mn-lt"/>
                        </a:rPr>
                        <a:t>Weeks 8-10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400" b="1">
                          <a:effectLst/>
                          <a:latin typeface="+mn-lt"/>
                        </a:rPr>
                        <a:t>Weeks 11-12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775248"/>
                  </a:ext>
                </a:extLst>
              </a:tr>
              <a:tr h="63427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400" b="1">
                          <a:effectLst/>
                          <a:latin typeface="+mn-lt"/>
                        </a:rPr>
                        <a:t>Research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400" b="1" dirty="0">
                          <a:effectLst/>
                          <a:latin typeface="+mn-lt"/>
                        </a:rPr>
                        <a:t>Techniques and Method Organization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4"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400" b="1" dirty="0">
                          <a:effectLst/>
                          <a:latin typeface="+mn-lt"/>
                        </a:rPr>
                        <a:t>█████████████████████████████████████████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400" b="1">
                        <a:effectLst/>
                        <a:latin typeface="+mn-lt"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913875"/>
                  </a:ext>
                </a:extLst>
              </a:tr>
              <a:tr h="634274">
                <a:tc rowSpan="3"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400" b="1">
                          <a:effectLst/>
                          <a:latin typeface="+mn-lt"/>
                        </a:rPr>
                        <a:t>Development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400" b="1">
                          <a:effectLst/>
                          <a:latin typeface="+mn-lt"/>
                        </a:rPr>
                        <a:t>Data Preprocessing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400" b="1">
                        <a:effectLst/>
                        <a:latin typeface="+mn-lt"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400" b="1" dirty="0">
                          <a:effectLst/>
                          <a:latin typeface="+mn-lt"/>
                        </a:rPr>
                        <a:t>████████████████████ 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400" b="1">
                        <a:effectLst/>
                        <a:latin typeface="+mn-lt"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400" b="1">
                        <a:effectLst/>
                        <a:latin typeface="+mn-lt"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549851"/>
                  </a:ext>
                </a:extLst>
              </a:tr>
              <a:tr h="63427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400" b="1" dirty="0">
                          <a:effectLst/>
                          <a:latin typeface="+mn-lt"/>
                        </a:rPr>
                        <a:t>CNN Model Dev.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400" b="1">
                        <a:effectLst/>
                        <a:latin typeface="+mn-lt"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400" b="1">
                          <a:effectLst/>
                          <a:latin typeface="+mn-lt"/>
                        </a:rPr>
                        <a:t>██████████████████████████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400" b="1">
                        <a:effectLst/>
                        <a:latin typeface="+mn-lt"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813576"/>
                  </a:ext>
                </a:extLst>
              </a:tr>
              <a:tr h="63427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400" b="1">
                          <a:effectLst/>
                          <a:latin typeface="+mn-lt"/>
                        </a:rPr>
                        <a:t>Hybrid Model Dev.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400" b="1">
                        <a:effectLst/>
                        <a:latin typeface="+mn-lt"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400" b="1">
                          <a:effectLst/>
                          <a:latin typeface="+mn-lt"/>
                        </a:rPr>
                        <a:t>██████████████████████████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400" b="1">
                        <a:effectLst/>
                        <a:latin typeface="+mn-lt"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394057"/>
                  </a:ext>
                </a:extLst>
              </a:tr>
              <a:tr h="63427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400" b="1">
                          <a:effectLst/>
                          <a:latin typeface="+mn-lt"/>
                        </a:rPr>
                        <a:t>Evaluation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400" b="1">
                          <a:effectLst/>
                          <a:latin typeface="+mn-lt"/>
                        </a:rPr>
                        <a:t>Model Training &amp; Exp.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400" b="1">
                        <a:effectLst/>
                        <a:latin typeface="+mn-lt"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400" b="1">
                        <a:effectLst/>
                        <a:latin typeface="+mn-lt"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400" b="1">
                        <a:effectLst/>
                        <a:latin typeface="+mn-lt"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400" b="1">
                          <a:effectLst/>
                          <a:latin typeface="+mn-lt"/>
                        </a:rPr>
                        <a:t>███████████████ 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87320"/>
                  </a:ext>
                </a:extLst>
              </a:tr>
              <a:tr h="63427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400" b="1">
                          <a:effectLst/>
                          <a:latin typeface="+mn-lt"/>
                        </a:rPr>
                        <a:t>Delivery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400" b="1">
                          <a:effectLst/>
                          <a:latin typeface="+mn-lt"/>
                        </a:rPr>
                        <a:t>Final Report &amp; PPT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400" b="1">
                        <a:effectLst/>
                        <a:latin typeface="+mn-lt"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400" b="1">
                        <a:effectLst/>
                        <a:latin typeface="+mn-lt"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400" b="1">
                        <a:effectLst/>
                        <a:latin typeface="+mn-lt"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400" b="1">
                        <a:effectLst/>
                        <a:latin typeface="+mn-lt"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400" b="1" dirty="0">
                          <a:effectLst/>
                          <a:latin typeface="+mn-lt"/>
                        </a:rPr>
                        <a:t>███████ 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449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41687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sz="2000" dirty="0">
                <a:latin typeface="+mn-lt"/>
                <a:ea typeface="Cambria" panose="02040503050406030204" pitchFamily="18" charset="0"/>
              </a:rPr>
              <a:t>References (IEEE Paper format)</a:t>
            </a:r>
            <a:endParaRPr sz="2000" dirty="0">
              <a:latin typeface="+mn-lt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[1]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 A. Rossler, D. Cozzolino, L.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Verdoliva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, C. Riess, J. Thies, and M. Niessner, “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FaceForensics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++: The Large-Scale De-identification Dataset,” in Proceedings of the IEEE/CVF International Conference on Computer Vision (ICCV), Oct. 2019.</a:t>
            </a:r>
          </a:p>
          <a:p>
            <a:pPr marL="152400" indent="0">
              <a:spcBef>
                <a:spcPts val="0"/>
              </a:spcBef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[2]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 Y. Li, X. Yang, P. Sun, H. Qi, and S. Lyu, “Celeb-DF: A Large-Scale Challenging Dataset for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DeepFake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Forensics,” in Proceedings of the IEEE/CVF Conference on Computer Vision and Pattern Recognition (CVPR), Jun. 2020.</a:t>
            </a:r>
          </a:p>
          <a:p>
            <a:pPr marL="152400" indent="0">
              <a:spcBef>
                <a:spcPts val="0"/>
              </a:spcBef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[3]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 E. Sabir, J. Cheng, A. Jaiswal, W.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AbdAlmageed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, I. Masi, and P. Natarajan, “Recurrent Convolutional Strategies for Face Manipulation Detection in Videos,” in Proceedings of the IEEE/CVF Conference on Computer Vision and Pattern Recognition Workshops (CVPRW), Jun. 2019.</a:t>
            </a:r>
          </a:p>
          <a:p>
            <a:pPr marL="152400" indent="0">
              <a:spcBef>
                <a:spcPts val="0"/>
              </a:spcBef>
              <a:buNone/>
            </a:pPr>
            <a:endParaRPr lang="en-US" sz="1200" b="1" dirty="0">
              <a:latin typeface="+mn-lt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sz="1200" dirty="0">
              <a:latin typeface="+mn-lt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450f434-8884-451b-956f-1819749fd74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1DDB871361914C92E59AEC9AD0EF2A" ma:contentTypeVersion="10" ma:contentTypeDescription="Create a new document." ma:contentTypeScope="" ma:versionID="8cd229de15c1096e0f11a07052de889c">
  <xsd:schema xmlns:xsd="http://www.w3.org/2001/XMLSchema" xmlns:xs="http://www.w3.org/2001/XMLSchema" xmlns:p="http://schemas.microsoft.com/office/2006/metadata/properties" xmlns:ns3="d450f434-8884-451b-956f-1819749fd748" targetNamespace="http://schemas.microsoft.com/office/2006/metadata/properties" ma:root="true" ma:fieldsID="0dd65abc612a32fe00759cd589969e5b" ns3:_="">
    <xsd:import namespace="d450f434-8884-451b-956f-1819749fd74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50f434-8884-451b-956f-1819749fd7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195DC0-2B0E-42B3-A622-E2CDACDB8599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  <ds:schemaRef ds:uri="http://purl.org/dc/terms/"/>
    <ds:schemaRef ds:uri="d450f434-8884-451b-956f-1819749fd748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4E52B59E-83A0-425F-B787-3BC304F9A8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8BB72E-3151-4719-A471-684228DBF7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50f434-8884-451b-956f-1819749fd7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1397</Words>
  <Application>Microsoft Office PowerPoint</Application>
  <PresentationFormat>Widescreen</PresentationFormat>
  <Paragraphs>209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Verdana</vt:lpstr>
      <vt:lpstr>Bioinformatics</vt:lpstr>
      <vt:lpstr>Development of AI/ML based solution for detection of face-swap based deep fake videos</vt:lpstr>
      <vt:lpstr>DETAILS</vt:lpstr>
      <vt:lpstr>Problem Statement</vt:lpstr>
      <vt:lpstr>OBJECTIVE</vt:lpstr>
      <vt:lpstr>Proposed Methodology</vt:lpstr>
      <vt:lpstr>Proposed Methodology</vt:lpstr>
      <vt:lpstr>Proposed Methodology</vt:lpstr>
      <vt:lpstr>Github Link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Sandeep Kumar</cp:lastModifiedBy>
  <cp:revision>45</cp:revision>
  <dcterms:modified xsi:type="dcterms:W3CDTF">2025-09-08T16:43:11Z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0x010100881DDB871361914C92E59AEC9AD0EF2A</vt:lpwstr>
  </property>
</Properties>
</file>