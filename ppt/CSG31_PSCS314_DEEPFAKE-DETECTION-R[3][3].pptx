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22"/>
  </p:notesMasterIdLst>
  <p:sldIdLst>
    <p:sldId id="256" r:id="rId5"/>
    <p:sldId id="269" r:id="rId6"/>
    <p:sldId id="272" r:id="rId7"/>
    <p:sldId id="274" r:id="rId8"/>
    <p:sldId id="275" r:id="rId9"/>
    <p:sldId id="276" r:id="rId10"/>
    <p:sldId id="268" r:id="rId11"/>
    <p:sldId id="278" r:id="rId12"/>
    <p:sldId id="279" r:id="rId13"/>
    <p:sldId id="277" r:id="rId14"/>
    <p:sldId id="281" r:id="rId15"/>
    <p:sldId id="282" r:id="rId16"/>
    <p:sldId id="283" r:id="rId17"/>
    <p:sldId id="284" r:id="rId18"/>
    <p:sldId id="285" r:id="rId19"/>
    <p:sldId id="280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35" y="-6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BEB1CA1-08EB-EB77-14F2-CE7DAABC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715A8594-4B30-CBFF-0972-D6B1D25220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431563C1-2016-4BC1-A0F6-F530149753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09685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32C861A-06C9-EA38-A599-5E70EC3BE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>
            <a:extLst>
              <a:ext uri="{FF2B5EF4-FFF2-40B4-BE49-F238E27FC236}">
                <a16:creationId xmlns:a16="http://schemas.microsoft.com/office/drawing/2014/main" id="{8AF912F9-5560-C854-BBC1-0D40445B2B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>
            <a:extLst>
              <a:ext uri="{FF2B5EF4-FFF2-40B4-BE49-F238E27FC236}">
                <a16:creationId xmlns:a16="http://schemas.microsoft.com/office/drawing/2014/main" id="{F9AE90DB-3387-F229-5152-073983087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37573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1F73315-AE20-1748-9BD2-D29E8F8B5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9623780-ABBD-986B-2F0F-9699639AEB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7B33C64-0F0F-17B9-8457-A17F8016B9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970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6CA0309-F295-EE29-755B-19FE82460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4F68D3B-C7CD-B5BC-2B6F-CE0B78810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EEA06E56-5533-4602-301F-3176695921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5531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6660656-8841-5A02-9F4B-F20D6A59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5319792-C7FF-F225-5251-5D6D9757EA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BD4F1F7-BA24-C7DF-E9CF-BA8D7BF89E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2336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7917CA0-93AC-932A-93D5-B6745012E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CD5214C-4DDC-D3D7-0F84-1148B947D1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12EC2A9-C3D6-CC44-BE80-8B9D69E54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5885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301DEDB-C4A8-8AA8-20C5-92DDCA9A2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C39FBA70-EA4A-FAE9-2E4B-7696C6D9EF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4CF089E9-C5E0-6171-F6CF-F354F76E4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47320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1EB5B054-AB5E-BFCB-AF82-89914F5E2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0244738-1F21-5C08-6DA9-E51CB32125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CBCC9784-71CE-880A-5DF0-ED012B5967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2863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EEFD1DE-7DD2-D5D6-5B5F-2B14820F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A8CD1D1-3D21-509F-863B-0028BCF5A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7B861667-F261-6E89-6274-0D6730725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54820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9858C885-F701-E692-5E06-AFEFE44F2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06FF1BF-314F-1551-CD56-1E4A817980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D7A35D2-5A15-5452-8709-B990659645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68104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D8748F3-90FD-1EA6-B781-2EB4E37DA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286E5EF-E34F-A547-6B5A-D03BA0BC55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8A40523-E3AD-4B13-8461-5ABA85AD7A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247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442720" y="1069102"/>
            <a:ext cx="933704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Development of AI/ML based solution for detection</a:t>
            </a:r>
            <a:b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</a:br>
            <a:r>
              <a:rPr lang="en-US" sz="1400" dirty="0">
                <a:solidFill>
                  <a:schemeClr val="tx1"/>
                </a:solidFill>
                <a:latin typeface="+mj-lt"/>
                <a:ea typeface="Cambria" panose="02040503050406030204" pitchFamily="18" charset="0"/>
              </a:rPr>
              <a:t>of face-swap based deep fake videos</a:t>
            </a:r>
            <a:endParaRPr sz="1400" dirty="0">
              <a:solidFill>
                <a:schemeClr val="tx1"/>
              </a:solidFill>
              <a:latin typeface="+mj-lt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485669" y="2197752"/>
            <a:ext cx="2816332" cy="47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400" dirty="0">
                <a:latin typeface="+mj-lt"/>
                <a:ea typeface="Cambria" panose="02040503050406030204" pitchFamily="18" charset="0"/>
              </a:rPr>
              <a:t>Batch Number: </a:t>
            </a:r>
            <a:r>
              <a:rPr lang="en-IN" sz="1400" dirty="0">
                <a:latin typeface="+mj-lt"/>
                <a:ea typeface="Cambria" panose="02040503050406030204" pitchFamily="18" charset="0"/>
              </a:rPr>
              <a:t>PSCS_314</a:t>
            </a:r>
            <a:endParaRPr sz="14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7049155" y="2885440"/>
            <a:ext cx="4657177" cy="1451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Mr.</a:t>
            </a:r>
            <a:r>
              <a:rPr lang="en-GB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IN" b="1">
                <a:latin typeface="+mj-lt"/>
              </a:rPr>
              <a:t>Himansu Sekhar </a:t>
            </a:r>
            <a:r>
              <a:rPr lang="en-IN" b="1" dirty="0">
                <a:latin typeface="+mj-lt"/>
              </a:rPr>
              <a:t>Rout</a:t>
            </a:r>
            <a:endParaRPr lang="en-GB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lang="en-GB"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+mj-lt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42720" y="136441"/>
            <a:ext cx="9337040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2000" dirty="0">
              <a:latin typeface="+mj-lt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Review-3</a:t>
            </a:r>
            <a:endParaRPr sz="2000" b="1" i="0" u="none" strike="noStrike" cap="none" dirty="0">
              <a:solidFill>
                <a:srgbClr val="17365D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485668" y="4826001"/>
            <a:ext cx="6563487" cy="1269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Calibri" panose="020F0502020204030204" pitchFamily="34" charset="0"/>
                <a:sym typeface="Verdana"/>
              </a:rPr>
              <a:t>CSG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IN" b="1" dirty="0">
                <a:latin typeface="+mj-lt"/>
              </a:rPr>
              <a:t>Dr. Anandaraj S.P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i="0" u="none" strike="noStrike" cap="none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IN" b="1" dirty="0">
                <a:latin typeface="+mj-lt"/>
              </a:rPr>
              <a:t>Dr. </a:t>
            </a:r>
            <a:r>
              <a:rPr lang="en-IN" b="1" dirty="0" err="1">
                <a:latin typeface="+mj-lt"/>
              </a:rPr>
              <a:t>Sharmasth</a:t>
            </a:r>
            <a:r>
              <a:rPr lang="en-IN" b="1" dirty="0">
                <a:latin typeface="+mj-lt"/>
              </a:rPr>
              <a:t> Vali 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b="1" dirty="0">
                <a:solidFill>
                  <a:schemeClr val="accent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b="1" i="0" u="none" strike="noStrike" cap="none" dirty="0">
                <a:solidFill>
                  <a:schemeClr val="tx1"/>
                </a:solidFill>
                <a:latin typeface="+mj-lt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b="1" i="0" u="none" strike="noStrike" cap="none" dirty="0">
              <a:solidFill>
                <a:schemeClr val="tx1"/>
              </a:solidFill>
              <a:latin typeface="+mj-lt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6E5F89-EEF8-0122-7FF9-5F206F574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3015512"/>
              </p:ext>
            </p:extLst>
          </p:nvPr>
        </p:nvGraphicFramePr>
        <p:xfrm>
          <a:off x="485668" y="2885440"/>
          <a:ext cx="5610332" cy="1451184"/>
        </p:xfrm>
        <a:graphic>
          <a:graphicData uri="http://schemas.openxmlformats.org/drawingml/2006/table">
            <a:tbl>
              <a:tblPr firstRow="1" bandRow="1"/>
              <a:tblGrid>
                <a:gridCol w="2789725">
                  <a:extLst>
                    <a:ext uri="{9D8B030D-6E8A-4147-A177-3AD203B41FA5}">
                      <a16:colId xmlns:a16="http://schemas.microsoft.com/office/drawing/2014/main" val="4087889410"/>
                    </a:ext>
                  </a:extLst>
                </a:gridCol>
                <a:gridCol w="2820607">
                  <a:extLst>
                    <a:ext uri="{9D8B030D-6E8A-4147-A177-3AD203B41FA5}">
                      <a16:colId xmlns:a16="http://schemas.microsoft.com/office/drawing/2014/main" val="2829666176"/>
                    </a:ext>
                  </a:extLst>
                </a:gridCol>
              </a:tblGrid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NAME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bg2"/>
                          </a:solidFill>
                        </a:rPr>
                        <a:t>ROLL_NO</a:t>
                      </a:r>
                      <a:endParaRPr lang="en-IN" b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013183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 SANDEEP KUMAR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20221CSG0136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283524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YOGESH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20221CS0G128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5371901"/>
                  </a:ext>
                </a:extLst>
              </a:tr>
              <a:tr h="36279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 PRAJWAL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1" dirty="0"/>
                        <a:t>20221CS0G161</a:t>
                      </a:r>
                      <a:endParaRPr lang="en-IN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6284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46767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000" dirty="0">
                <a:latin typeface="+mn-lt"/>
                <a:ea typeface="Cambria" panose="02040503050406030204" pitchFamily="18" charset="0"/>
              </a:rPr>
              <a:t>DETAILS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3246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Organization: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National Technical Research </a:t>
            </a:r>
            <a:r>
              <a:rPr lang="en-US" sz="1400" b="1" dirty="0" err="1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Organisation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 (NTRO)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Category: </a:t>
            </a:r>
            <a:r>
              <a:rPr lang="en-US" sz="1400" b="1" dirty="0">
                <a:solidFill>
                  <a:schemeClr val="tx1"/>
                </a:solidFill>
                <a:latin typeface="+mn-lt"/>
                <a:ea typeface="Cambria" panose="02040503050406030204" pitchFamily="18" charset="0"/>
              </a:rPr>
              <a:t>Software.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400" b="1" dirty="0">
                <a:solidFill>
                  <a:schemeClr val="bg2"/>
                </a:solidFill>
                <a:latin typeface="+mn-lt"/>
                <a:ea typeface="Cambria" panose="02040503050406030204" pitchFamily="18" charset="0"/>
              </a:rPr>
              <a:t>Problem Description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:</a:t>
            </a:r>
          </a:p>
          <a:p>
            <a:pPr marL="323850" indent="-1714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This project is the development and evaluation of an AI/ML solution to detect </a:t>
            </a:r>
            <a:r>
              <a:rPr lang="en-US" sz="1200" b="1" dirty="0">
                <a:latin typeface="+mn-lt"/>
              </a:rPr>
              <a:t>face-swap deepfake videos</a:t>
            </a:r>
            <a:r>
              <a:rPr lang="en-US" sz="1200" dirty="0">
                <a:latin typeface="+mn-lt"/>
              </a:rPr>
              <a:t>, focusing on a </a:t>
            </a:r>
            <a:r>
              <a:rPr lang="en-US" sz="1200" b="1" dirty="0">
                <a:latin typeface="+mn-lt"/>
              </a:rPr>
              <a:t>Recurrent Convolutional Strategy</a:t>
            </a:r>
            <a:r>
              <a:rPr lang="en-US" sz="1200" dirty="0">
                <a:latin typeface="+mn-lt"/>
              </a:rPr>
              <a:t>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The core of the project is a </a:t>
            </a:r>
            <a:r>
              <a:rPr lang="en-US" sz="1200" b="1" dirty="0">
                <a:latin typeface="+mn-lt"/>
              </a:rPr>
              <a:t>hybrid CNN-LSTM model</a:t>
            </a:r>
            <a:r>
              <a:rPr lang="en-US" sz="1200" dirty="0">
                <a:latin typeface="+mn-lt"/>
              </a:rPr>
              <a:t> designed to analyze videos for both </a:t>
            </a:r>
            <a:r>
              <a:rPr lang="en-US" sz="1200" b="1" dirty="0">
                <a:latin typeface="+mn-lt"/>
              </a:rPr>
              <a:t>spatial artifacts</a:t>
            </a:r>
            <a:r>
              <a:rPr lang="en-US" sz="1200" dirty="0">
                <a:latin typeface="+mn-lt"/>
              </a:rPr>
              <a:t> (like unnatural textures in a single frame) and </a:t>
            </a:r>
            <a:r>
              <a:rPr lang="en-US" sz="1200" b="1" dirty="0">
                <a:latin typeface="+mn-lt"/>
              </a:rPr>
              <a:t>temporal inconsistencies</a:t>
            </a:r>
            <a:r>
              <a:rPr lang="en-US" sz="1200" dirty="0">
                <a:latin typeface="+mn-lt"/>
              </a:rPr>
              <a:t> (like flawed blinking patterns over time).</a:t>
            </a:r>
          </a:p>
          <a:p>
            <a:pPr marL="438150" indent="-285750" algn="just">
              <a:lnSpc>
                <a:spcPct val="200000"/>
              </a:lnSpc>
              <a:spcBef>
                <a:spcPts val="0"/>
              </a:spcBef>
            </a:pPr>
            <a:r>
              <a:rPr lang="en-US" sz="1200" dirty="0">
                <a:latin typeface="+mn-lt"/>
              </a:rPr>
              <a:t>The models will be trained and tested on challenging public datasets like </a:t>
            </a:r>
            <a:r>
              <a:rPr lang="en-US" sz="1200" b="1" dirty="0" err="1">
                <a:latin typeface="+mn-lt"/>
              </a:rPr>
              <a:t>FaceForensics</a:t>
            </a:r>
            <a:r>
              <a:rPr lang="en-US" sz="1200" b="1" dirty="0">
                <a:latin typeface="+mn-lt"/>
              </a:rPr>
              <a:t>++</a:t>
            </a:r>
            <a:r>
              <a:rPr lang="en-US" sz="1200" dirty="0">
                <a:latin typeface="+mn-lt"/>
              </a:rPr>
              <a:t> and </a:t>
            </a:r>
            <a:r>
              <a:rPr lang="en-US" sz="1200" b="1" dirty="0">
                <a:latin typeface="+mn-lt"/>
              </a:rPr>
              <a:t>Celeb-DF</a:t>
            </a:r>
            <a:r>
              <a:rPr lang="en-US" sz="1200" dirty="0">
                <a:latin typeface="+mn-lt"/>
              </a:rPr>
              <a:t>, with the ultimate aim of demonstrating the superior effectiveness of a </a:t>
            </a:r>
            <a:r>
              <a:rPr lang="en-US" sz="1200" dirty="0" err="1">
                <a:latin typeface="+mn-lt"/>
              </a:rPr>
              <a:t>spatio</a:t>
            </a:r>
            <a:r>
              <a:rPr lang="en-US" sz="1200" dirty="0">
                <a:latin typeface="+mn-lt"/>
              </a:rPr>
              <a:t>-temporal model in combating sophisticated digital forgeries.</a:t>
            </a: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680720" y="386398"/>
            <a:ext cx="1080008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IN" sz="2000" dirty="0">
                <a:latin typeface="+mj-lt"/>
              </a:rPr>
              <a:t>Problem Statement</a:t>
            </a:r>
            <a:endParaRPr lang="en-US" sz="20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C3A957-14A2-574C-561A-D0D1A1A8C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998041"/>
            <a:ext cx="10668000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>
                <a:latin typeface="+mj-lt"/>
              </a:rPr>
              <a:t>The Challenge of Hyper-Realistic Deepfakes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b="1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200" b="1" dirty="0">
                <a:latin typeface="+mj-lt"/>
              </a:rPr>
              <a:t>(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problem statement number:</a:t>
            </a:r>
            <a:r>
              <a:rPr lang="en-IN" sz="1200" b="1" dirty="0">
                <a:latin typeface="+mj-lt"/>
                <a:ea typeface="Cambria" panose="02040503050406030204" pitchFamily="18" charset="0"/>
              </a:rPr>
              <a:t>PSCS_314</a:t>
            </a:r>
            <a:r>
              <a:rPr lang="en-US" sz="1200" b="1" dirty="0">
                <a:latin typeface="+mj-lt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rapid rise of Generative AI has enabled the creation of hyper-realistic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face-swap deepfake videos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blurring the line between authentic and synthetic media.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This technology poses a severe threat to society through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political disinformation, financial fraud, and personal defamation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Existing detection methods often fail to generalize against new forgery techniques and struggle to identify subtle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temporal inconsistencies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that reveal a video's true nature.</a:t>
            </a: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000" dirty="0">
                <a:latin typeface="+mn-lt"/>
                <a:ea typeface="Cambria" panose="02040503050406030204" pitchFamily="18" charset="0"/>
              </a:rPr>
              <a:t>Algorithms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0377D3-6299-3F98-9A59-5EF675D0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360" y="3467854"/>
            <a:ext cx="112369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453C8C-F058-602D-85C8-4E38DFE1CEC6}"/>
              </a:ext>
            </a:extLst>
          </p:cNvPr>
          <p:cNvSpPr txBox="1"/>
          <p:nvPr/>
        </p:nvSpPr>
        <p:spPr>
          <a:xfrm>
            <a:off x="822960" y="1097280"/>
            <a:ext cx="5273040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ALGORITHMS USED AND THEIR IMPLEMENTATION:</a:t>
            </a:r>
          </a:p>
          <a:p>
            <a:endParaRPr lang="en-US" sz="1200" b="1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MTCNN (Multi-task Cascaded Convolutional Networks)</a:t>
            </a:r>
            <a:endParaRPr lang="en-IN" sz="1200" dirty="0">
              <a:latin typeface="+mn-lt"/>
            </a:endParaRP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Face detection and landmark extraction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Three-stage cascade: P-Net, R-Net, O-Net</a:t>
            </a:r>
          </a:p>
          <a:p>
            <a:r>
              <a:rPr lang="en-IN" sz="1200" dirty="0">
                <a:latin typeface="+mn-lt"/>
              </a:rPr>
              <a:t>   - P-Net: Proposal generation for face candidates</a:t>
            </a:r>
          </a:p>
          <a:p>
            <a:r>
              <a:rPr lang="en-IN" sz="1200" dirty="0">
                <a:latin typeface="+mn-lt"/>
              </a:rPr>
              <a:t>   - R-Net: Refines proposals and removes false positives</a:t>
            </a:r>
          </a:p>
          <a:p>
            <a:r>
              <a:rPr lang="en-IN" sz="1200" dirty="0">
                <a:latin typeface="+mn-lt"/>
              </a:rPr>
              <a:t>   - O-Net: Final detection with 5 facial landmarks</a:t>
            </a:r>
          </a:p>
          <a:p>
            <a:r>
              <a:rPr lang="en-IN" sz="1200" dirty="0">
                <a:latin typeface="+mn-lt"/>
              </a:rPr>
              <a:t>   - Outputs: Bounding boxes, confidence scores, 5 key points</a:t>
            </a:r>
          </a:p>
          <a:p>
            <a:r>
              <a:rPr lang="en-IN" sz="1200" b="1" dirty="0">
                <a:latin typeface="+mn-lt"/>
              </a:rPr>
              <a:t>   Usage: </a:t>
            </a:r>
            <a:r>
              <a:rPr lang="en-IN" sz="1200" dirty="0" err="1">
                <a:latin typeface="+mn-lt"/>
              </a:rPr>
              <a:t>self.detector.detect</a:t>
            </a:r>
            <a:r>
              <a:rPr lang="en-IN" sz="1200" dirty="0">
                <a:latin typeface="+mn-lt"/>
              </a:rPr>
              <a:t>(</a:t>
            </a:r>
            <a:r>
              <a:rPr lang="en-IN" sz="1200" dirty="0" err="1">
                <a:latin typeface="+mn-lt"/>
              </a:rPr>
              <a:t>pil_frame</a:t>
            </a:r>
            <a:r>
              <a:rPr lang="en-IN" sz="1200" dirty="0">
                <a:latin typeface="+mn-lt"/>
              </a:rPr>
              <a:t>, landmarks=True)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SIMILARITY TRANSFORMATION (Affine Transformation)</a:t>
            </a:r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   Purpose: </a:t>
            </a:r>
            <a:r>
              <a:rPr lang="en-IN" sz="1200" dirty="0">
                <a:latin typeface="+mn-lt"/>
              </a:rPr>
              <a:t>Face alignment and normalization</a:t>
            </a:r>
          </a:p>
          <a:p>
            <a:r>
              <a:rPr lang="en-IN" sz="1200" b="1" dirty="0">
                <a:latin typeface="+mn-lt"/>
              </a:rPr>
              <a:t>   How it works:</a:t>
            </a:r>
          </a:p>
          <a:p>
            <a:r>
              <a:rPr lang="en-IN" sz="1200" dirty="0">
                <a:latin typeface="+mn-lt"/>
              </a:rPr>
              <a:t>   - Uses 5 facial landmarks from MTCNN</a:t>
            </a:r>
          </a:p>
          <a:p>
            <a:r>
              <a:rPr lang="en-IN" sz="1200" dirty="0">
                <a:latin typeface="+mn-lt"/>
              </a:rPr>
              <a:t>   - Calculates transformation matrix to standard pose</a:t>
            </a:r>
          </a:p>
          <a:p>
            <a:r>
              <a:rPr lang="en-IN" sz="1200" dirty="0">
                <a:latin typeface="+mn-lt"/>
              </a:rPr>
              <a:t>   - Applies scaling, rotation, and translation</a:t>
            </a:r>
          </a:p>
          <a:p>
            <a:r>
              <a:rPr lang="en-IN" sz="1200" dirty="0">
                <a:latin typeface="+mn-lt"/>
              </a:rPr>
              <a:t>   - Warps face to 224x224 standardized format</a:t>
            </a:r>
          </a:p>
          <a:p>
            <a:r>
              <a:rPr lang="en-IN" sz="1200" b="1" dirty="0">
                <a:latin typeface="+mn-lt"/>
              </a:rPr>
              <a:t>   Algorithm: </a:t>
            </a:r>
            <a:r>
              <a:rPr lang="en-IN" sz="1200" dirty="0">
                <a:latin typeface="+mn-lt"/>
              </a:rPr>
              <a:t>cv2.estimateAffinePartial2D() + cv2.warpAffine()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6BB4C-66EF-A012-689E-BF66D7D1875E}"/>
              </a:ext>
            </a:extLst>
          </p:cNvPr>
          <p:cNvSpPr txBox="1"/>
          <p:nvPr/>
        </p:nvSpPr>
        <p:spPr>
          <a:xfrm>
            <a:off x="6095999" y="1493520"/>
            <a:ext cx="46606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DENSENET-121 (Densely Connected Convolutional Networks)</a:t>
            </a:r>
            <a:endParaRPr lang="en-US" sz="1200" dirty="0"/>
          </a:p>
          <a:p>
            <a:r>
              <a:rPr lang="en-US" sz="1200" dirty="0"/>
              <a:t>   </a:t>
            </a:r>
            <a:r>
              <a:rPr lang="en-US" sz="1200" b="1" dirty="0"/>
              <a:t>Purpose:</a:t>
            </a:r>
            <a:r>
              <a:rPr lang="en-US" sz="1200" dirty="0"/>
              <a:t> Spatial feature extraction from face images</a:t>
            </a:r>
          </a:p>
          <a:p>
            <a:r>
              <a:rPr lang="en-US" sz="1200" dirty="0"/>
              <a:t>   </a:t>
            </a:r>
            <a:r>
              <a:rPr lang="en-US" sz="1200" b="1" dirty="0"/>
              <a:t>How it works:</a:t>
            </a:r>
          </a:p>
          <a:p>
            <a:r>
              <a:rPr lang="en-US" sz="1200" dirty="0"/>
              <a:t>   - Pre-trained on ImageNet for transfer learning</a:t>
            </a:r>
          </a:p>
          <a:p>
            <a:r>
              <a:rPr lang="en-US" sz="1200" dirty="0"/>
              <a:t>   - Dense blocks with skip connections</a:t>
            </a:r>
          </a:p>
          <a:p>
            <a:r>
              <a:rPr lang="en-US" sz="1200" dirty="0"/>
              <a:t>   - Feature reuse through concatenation</a:t>
            </a:r>
          </a:p>
          <a:p>
            <a:r>
              <a:rPr lang="en-US" sz="1200" dirty="0"/>
              <a:t>   - Extracts 1024-dimensional feature vectors</a:t>
            </a:r>
          </a:p>
          <a:p>
            <a:r>
              <a:rPr lang="en-US" sz="1200" dirty="0"/>
              <a:t>   - Removes final classification layer for feature extraction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b="1" dirty="0"/>
              <a:t>BIDIRECTIONAL GRU (Gated Recurrent Unit)</a:t>
            </a:r>
            <a:endParaRPr lang="en-US" sz="1200" dirty="0"/>
          </a:p>
          <a:p>
            <a:r>
              <a:rPr lang="en-US" sz="1200" b="1" dirty="0"/>
              <a:t>   Purpose: </a:t>
            </a:r>
            <a:r>
              <a:rPr lang="en-US" sz="1200" dirty="0"/>
              <a:t>Temporal sequence modeling</a:t>
            </a:r>
          </a:p>
          <a:p>
            <a:r>
              <a:rPr lang="en-US" sz="1200" b="1" dirty="0"/>
              <a:t>   How it works:</a:t>
            </a:r>
          </a:p>
          <a:p>
            <a:r>
              <a:rPr lang="en-US" sz="1200" dirty="0"/>
              <a:t>   - Processes 5-frame sequences bidirectionally</a:t>
            </a:r>
          </a:p>
          <a:p>
            <a:r>
              <a:rPr lang="en-US" sz="1200" dirty="0"/>
              <a:t>   - Forward GRU: processes frames 1→5</a:t>
            </a:r>
          </a:p>
          <a:p>
            <a:r>
              <a:rPr lang="en-US" sz="1200" dirty="0"/>
              <a:t>   - Backward GRU: processes frames 5→1</a:t>
            </a:r>
          </a:p>
          <a:p>
            <a:r>
              <a:rPr lang="en-US" sz="1200" dirty="0"/>
              <a:t>   - Combines temporal information from both directions</a:t>
            </a:r>
          </a:p>
          <a:p>
            <a:r>
              <a:rPr lang="en-US" sz="1200" dirty="0"/>
              <a:t>   - Hidden size: 512, Layers: 2, with dropout</a:t>
            </a:r>
          </a:p>
          <a:p>
            <a:r>
              <a:rPr lang="en-US" sz="1200" dirty="0"/>
              <a:t>   - Outputs concatenated </a:t>
            </a:r>
            <a:r>
              <a:rPr lang="en-US" sz="1200" dirty="0" err="1"/>
              <a:t>forward+backward</a:t>
            </a:r>
            <a:r>
              <a:rPr lang="en-US" sz="1200" dirty="0"/>
              <a:t> features (1024-dim)</a:t>
            </a: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911B837-AA18-7E24-F660-2B0387563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C9F88223-8D91-AC5D-15EB-8A7E22197C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000" dirty="0">
                <a:latin typeface="+mn-lt"/>
                <a:ea typeface="Cambria" panose="02040503050406030204" pitchFamily="18" charset="0"/>
              </a:rPr>
              <a:t>Algorithms</a:t>
            </a:r>
            <a:endParaRPr sz="20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F606B4-B5D0-8534-5E45-DAC13C07E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42C8AF-AB46-3CE3-F9A7-01B963DECD32}"/>
              </a:ext>
            </a:extLst>
          </p:cNvPr>
          <p:cNvSpPr txBox="1"/>
          <p:nvPr/>
        </p:nvSpPr>
        <p:spPr>
          <a:xfrm>
            <a:off x="873760" y="1158240"/>
            <a:ext cx="52222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n-lt"/>
              </a:rPr>
              <a:t>ADAM OPTIMIZER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Gradient-based optimization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Adaptive learning rates for each parameter</a:t>
            </a:r>
          </a:p>
          <a:p>
            <a:r>
              <a:rPr lang="en-IN" sz="1200" dirty="0">
                <a:latin typeface="+mn-lt"/>
              </a:rPr>
              <a:t>   - Combines momentum and RMSprop</a:t>
            </a:r>
          </a:p>
          <a:p>
            <a:r>
              <a:rPr lang="en-IN" sz="1200" dirty="0">
                <a:latin typeface="+mn-lt"/>
              </a:rPr>
              <a:t>   - Maintains moving averages of gradients and squared gradients</a:t>
            </a:r>
          </a:p>
          <a:p>
            <a:r>
              <a:rPr lang="en-IN" sz="1200" dirty="0">
                <a:latin typeface="+mn-lt"/>
              </a:rPr>
              <a:t>   - Learning rate: 1e-3</a:t>
            </a:r>
          </a:p>
          <a:p>
            <a:r>
              <a:rPr lang="en-IN" sz="1200" dirty="0">
                <a:latin typeface="+mn-lt"/>
              </a:rPr>
              <a:t>   - Automatic bias correction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GRAD-CAM (Gradient-weighted Class Activation Mapping)</a:t>
            </a:r>
            <a:endParaRPr lang="en-IN" sz="1200" dirty="0">
              <a:latin typeface="+mn-lt"/>
            </a:endParaRP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Purpose: </a:t>
            </a:r>
            <a:r>
              <a:rPr lang="en-IN" sz="1200" dirty="0">
                <a:latin typeface="+mn-lt"/>
              </a:rPr>
              <a:t>Visual explanation of model decisions</a:t>
            </a:r>
          </a:p>
          <a:p>
            <a:r>
              <a:rPr lang="en-IN" sz="1200" dirty="0">
                <a:latin typeface="+mn-lt"/>
              </a:rPr>
              <a:t>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- Computes gradients of target class </a:t>
            </a:r>
            <a:r>
              <a:rPr lang="en-IN" sz="1200" dirty="0" err="1">
                <a:latin typeface="+mn-lt"/>
              </a:rPr>
              <a:t>w.r.t.</a:t>
            </a:r>
            <a:r>
              <a:rPr lang="en-IN" sz="1200" dirty="0">
                <a:latin typeface="+mn-lt"/>
              </a:rPr>
              <a:t> feature maps</a:t>
            </a:r>
          </a:p>
          <a:p>
            <a:r>
              <a:rPr lang="en-IN" sz="1200" dirty="0">
                <a:latin typeface="+mn-lt"/>
              </a:rPr>
              <a:t>   - Global average pooling of gradients gives importance weights</a:t>
            </a:r>
          </a:p>
          <a:p>
            <a:r>
              <a:rPr lang="en-IN" sz="1200" dirty="0">
                <a:latin typeface="+mn-lt"/>
              </a:rPr>
              <a:t>   - Weighted combination of feature maps creates heatmap</a:t>
            </a:r>
          </a:p>
          <a:p>
            <a:r>
              <a:rPr lang="en-IN" sz="1200" dirty="0">
                <a:latin typeface="+mn-lt"/>
              </a:rPr>
              <a:t>   - Shows which facial regions influence FAKE classification</a:t>
            </a:r>
          </a:p>
          <a:p>
            <a:r>
              <a:rPr lang="en-IN" sz="1200" dirty="0">
                <a:latin typeface="+mn-lt"/>
              </a:rPr>
              <a:t>   - Target layer: Final </a:t>
            </a:r>
            <a:r>
              <a:rPr lang="en-IN" sz="1200" dirty="0" err="1">
                <a:latin typeface="+mn-lt"/>
              </a:rPr>
              <a:t>DenseBlock</a:t>
            </a:r>
            <a:r>
              <a:rPr lang="en-IN" sz="1200" dirty="0">
                <a:latin typeface="+mn-lt"/>
              </a:rPr>
              <a:t> of DenseNet-121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2C0D4-6716-3F1B-592F-358102F8D63B}"/>
              </a:ext>
            </a:extLst>
          </p:cNvPr>
          <p:cNvSpPr txBox="1"/>
          <p:nvPr/>
        </p:nvSpPr>
        <p:spPr>
          <a:xfrm>
            <a:off x="6096000" y="1158240"/>
            <a:ext cx="468376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IMAGENET NORMALIZATION</a:t>
            </a:r>
            <a:endParaRPr lang="en-IN" sz="1200" dirty="0"/>
          </a:p>
          <a:p>
            <a:r>
              <a:rPr lang="en-IN" sz="1200" b="1" dirty="0"/>
              <a:t>   Purpose: </a:t>
            </a:r>
            <a:r>
              <a:rPr lang="en-IN" sz="1200" dirty="0"/>
              <a:t>Input preprocessing for pre-trained models</a:t>
            </a:r>
          </a:p>
          <a:p>
            <a:r>
              <a:rPr lang="en-IN" sz="1200" dirty="0"/>
              <a:t>   </a:t>
            </a:r>
            <a:r>
              <a:rPr lang="en-IN" sz="1200" b="1" dirty="0"/>
              <a:t>How it works:</a:t>
            </a:r>
          </a:p>
          <a:p>
            <a:r>
              <a:rPr lang="en-IN" sz="1200" dirty="0"/>
              <a:t>   - Normalizes pixel values to match ImageNet statistics</a:t>
            </a:r>
          </a:p>
          <a:p>
            <a:r>
              <a:rPr lang="en-IN" sz="1200" dirty="0"/>
              <a:t>   - Mean: [0.485, 0.456, 0.406] (RGB channels)</a:t>
            </a:r>
          </a:p>
          <a:p>
            <a:r>
              <a:rPr lang="en-IN" sz="1200" dirty="0"/>
              <a:t>   - Std: [0.229, 0.224, 0.225] (RGB channels)</a:t>
            </a:r>
          </a:p>
          <a:p>
            <a:r>
              <a:rPr lang="en-IN" sz="1200" dirty="0"/>
              <a:t>   - Formula: (pixel - mean) / std</a:t>
            </a:r>
          </a:p>
          <a:p>
            <a:r>
              <a:rPr lang="en-IN" sz="1200" dirty="0"/>
              <a:t>   - Ensures compatibility with pre-trained </a:t>
            </a:r>
            <a:r>
              <a:rPr lang="en-IN" sz="1200" dirty="0" err="1"/>
              <a:t>DenseNet</a:t>
            </a:r>
            <a:endParaRPr lang="en-IN" sz="1200" dirty="0"/>
          </a:p>
          <a:p>
            <a:endParaRPr lang="en-IN" sz="1200" dirty="0"/>
          </a:p>
          <a:p>
            <a:endParaRPr lang="en-IN" sz="1200" dirty="0"/>
          </a:p>
          <a:p>
            <a:r>
              <a:rPr lang="en-IN" sz="1200" b="1" dirty="0"/>
              <a:t>RANDOM SPLIT ALGORITHM</a:t>
            </a:r>
            <a:endParaRPr lang="en-IN" sz="1200" dirty="0"/>
          </a:p>
          <a:p>
            <a:r>
              <a:rPr lang="en-IN" sz="1200" b="1" dirty="0"/>
              <a:t>   Purpose:</a:t>
            </a:r>
            <a:r>
              <a:rPr lang="en-IN" sz="1200" dirty="0"/>
              <a:t> Dataset partitioning for training/validation/testing</a:t>
            </a:r>
          </a:p>
          <a:p>
            <a:r>
              <a:rPr lang="en-IN" sz="1200" dirty="0"/>
              <a:t>   </a:t>
            </a:r>
            <a:r>
              <a:rPr lang="en-IN" sz="1200" b="1" dirty="0"/>
              <a:t>How it works:</a:t>
            </a:r>
          </a:p>
          <a:p>
            <a:r>
              <a:rPr lang="en-IN" sz="1200" dirty="0"/>
              <a:t>   - Randomly splits the dataset into three subsets</a:t>
            </a:r>
          </a:p>
          <a:p>
            <a:r>
              <a:rPr lang="en-IN" sz="1200" dirty="0"/>
              <a:t>   - Train: 60%, Validation: 20%, Test: 20%</a:t>
            </a:r>
          </a:p>
          <a:p>
            <a:r>
              <a:rPr lang="en-IN" sz="1200" dirty="0"/>
              <a:t>   - Uses </a:t>
            </a:r>
            <a:r>
              <a:rPr lang="en-IN" sz="1200" dirty="0" err="1"/>
              <a:t>torch.utils.data.random_split</a:t>
            </a:r>
            <a:r>
              <a:rPr lang="en-IN" sz="1200" dirty="0"/>
              <a:t>()</a:t>
            </a:r>
          </a:p>
          <a:p>
            <a:r>
              <a:rPr lang="en-IN" sz="1200" dirty="0"/>
              <a:t>   - Ensures no data leakage between sets</a:t>
            </a:r>
          </a:p>
        </p:txBody>
      </p:sp>
    </p:spTree>
    <p:extLst>
      <p:ext uri="{BB962C8B-B14F-4D97-AF65-F5344CB8AC3E}">
        <p14:creationId xmlns:p14="http://schemas.microsoft.com/office/powerpoint/2010/main" val="3778770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D0331D23-BD4B-D118-B277-3A0DAB9A0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8E52B571-094A-5C9F-4F4C-45A259BF76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3760" y="34575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sz="2000" dirty="0">
                <a:latin typeface="+mj-lt"/>
                <a:ea typeface="Cambria" panose="02040503050406030204" pitchFamily="18" charset="0"/>
              </a:rPr>
              <a:t>Algorithms</a:t>
            </a:r>
            <a:endParaRPr sz="2000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CA6521-D973-8774-87FD-505E9AC2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3760" y="3467854"/>
            <a:ext cx="4480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712E4E-3ECD-29FF-795F-B7DC032132E3}"/>
              </a:ext>
            </a:extLst>
          </p:cNvPr>
          <p:cNvSpPr txBox="1"/>
          <p:nvPr/>
        </p:nvSpPr>
        <p:spPr>
          <a:xfrm>
            <a:off x="873760" y="1158240"/>
            <a:ext cx="52222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+mn-lt"/>
              </a:rPr>
              <a:t>CONFUSION MATRIX CALCULATION</a:t>
            </a:r>
          </a:p>
          <a:p>
            <a:r>
              <a:rPr lang="en-IN" sz="1200" b="1" dirty="0">
                <a:latin typeface="+mn-lt"/>
              </a:rPr>
              <a:t>    Purpose: </a:t>
            </a:r>
            <a:r>
              <a:rPr lang="en-IN" sz="1200" dirty="0">
                <a:latin typeface="+mn-lt"/>
              </a:rPr>
              <a:t>Classification performance visualization</a:t>
            </a:r>
          </a:p>
          <a:p>
            <a:r>
              <a:rPr lang="en-IN" sz="1200" b="1" dirty="0">
                <a:latin typeface="+mn-lt"/>
              </a:rPr>
              <a:t>    How it works:</a:t>
            </a:r>
          </a:p>
          <a:p>
            <a:r>
              <a:rPr lang="en-IN" sz="1200" dirty="0">
                <a:latin typeface="+mn-lt"/>
              </a:rPr>
              <a:t>    - 2x2 matrix for binary classification</a:t>
            </a:r>
          </a:p>
          <a:p>
            <a:r>
              <a:rPr lang="en-IN" sz="1200" dirty="0">
                <a:latin typeface="+mn-lt"/>
              </a:rPr>
              <a:t>    - True Positives, False Positives, True Negatives, False Negatives</a:t>
            </a:r>
          </a:p>
          <a:p>
            <a:r>
              <a:rPr lang="en-IN" sz="1200" dirty="0">
                <a:latin typeface="+mn-lt"/>
              </a:rPr>
              <a:t>    - Visualized as heatmap using seaborn</a:t>
            </a:r>
          </a:p>
          <a:p>
            <a:r>
              <a:rPr lang="en-IN" sz="1200" dirty="0">
                <a:latin typeface="+mn-lt"/>
              </a:rPr>
              <a:t>    - Shows model's classification accuracy per class</a:t>
            </a:r>
          </a:p>
          <a:p>
            <a:endParaRPr lang="en-IN" sz="1200" dirty="0">
              <a:latin typeface="+mn-lt"/>
            </a:endParaRPr>
          </a:p>
          <a:p>
            <a:endParaRPr lang="en-IN" sz="1200" dirty="0">
              <a:latin typeface="+mn-lt"/>
            </a:endParaRPr>
          </a:p>
          <a:p>
            <a:r>
              <a:rPr lang="en-IN" sz="1200" b="1" dirty="0">
                <a:latin typeface="+mn-lt"/>
              </a:rPr>
              <a:t>ROC-AUC CALCULATION</a:t>
            </a:r>
          </a:p>
          <a:p>
            <a:r>
              <a:rPr lang="en-IN" sz="1200" b="1" dirty="0">
                <a:latin typeface="+mn-lt"/>
              </a:rPr>
              <a:t>    Purpose: </a:t>
            </a:r>
            <a:r>
              <a:rPr lang="en-IN" sz="1200" dirty="0">
                <a:latin typeface="+mn-lt"/>
              </a:rPr>
              <a:t>Model performance metric</a:t>
            </a:r>
          </a:p>
          <a:p>
            <a:r>
              <a:rPr lang="en-IN" sz="1200" dirty="0">
                <a:latin typeface="+mn-lt"/>
              </a:rPr>
              <a:t>    </a:t>
            </a:r>
            <a:r>
              <a:rPr lang="en-IN" sz="1200" b="1" dirty="0">
                <a:latin typeface="+mn-lt"/>
              </a:rPr>
              <a:t>How it works:</a:t>
            </a:r>
          </a:p>
          <a:p>
            <a:r>
              <a:rPr lang="en-IN" sz="1200" dirty="0">
                <a:latin typeface="+mn-lt"/>
              </a:rPr>
              <a:t>    - Receiver Operating Characteristic curve analysis</a:t>
            </a:r>
          </a:p>
          <a:p>
            <a:r>
              <a:rPr lang="en-IN" sz="1200" dirty="0">
                <a:latin typeface="+mn-lt"/>
              </a:rPr>
              <a:t>    - Area Under Curve measurement</a:t>
            </a:r>
          </a:p>
          <a:p>
            <a:r>
              <a:rPr lang="en-IN" sz="1200" dirty="0">
                <a:latin typeface="+mn-lt"/>
              </a:rPr>
              <a:t>    - Evaluates true positive vs false positive rates</a:t>
            </a:r>
          </a:p>
          <a:p>
            <a:r>
              <a:rPr lang="en-IN" sz="1200" dirty="0">
                <a:latin typeface="+mn-lt"/>
              </a:rPr>
              <a:t>    - Range: 0.5 (random) to 1.0 (perfect)</a:t>
            </a:r>
          </a:p>
          <a:p>
            <a:r>
              <a:rPr lang="en-IN" sz="1200" dirty="0">
                <a:latin typeface="+mn-lt"/>
              </a:rPr>
              <a:t>    - Handles single-class scenarios gracefully</a:t>
            </a:r>
          </a:p>
          <a:p>
            <a:endParaRPr lang="en-IN" sz="1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3165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FILES AND THEIR FUNCTIONS: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51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81000" indent="-228600">
              <a:spcBef>
                <a:spcPts val="0"/>
              </a:spcBef>
              <a:buSzPct val="100000"/>
              <a:buAutoNum type="arabicPeriod"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DATALOADER.PY</a:t>
            </a:r>
            <a:endParaRPr lang="en-US" sz="1200" b="1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Data preprocessing and loading pipeline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Video frame extraction from MP4 (MPEG-4 Part 14) files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Face detection and alignment using MTCNN (Multi-task Cascaded Convolutional Networks)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Sequence formation for temporal analysis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Data augmentation and normalization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2. MODEL.PY</a:t>
            </a:r>
            <a:endParaRPr lang="en-US" sz="1200" b="1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Neural network architecture definition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Defines hybrid CNN (Convolutional Neural Network) - RNN (Recurrent Neural Network) model structure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Spatial feature extraction using DenseNet-121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Temporal sequence modeling using Bidirectional GRU (Gated Recurrent Unit)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Binary classification head for REAL/FAKE prediction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3.</a:t>
            </a:r>
            <a:r>
              <a:rPr lang="en-US" sz="1400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TRAIN.PY</a:t>
            </a:r>
            <a:endParaRPr lang="en-US" sz="1200" b="1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Model training and validation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Training loop with backpropagation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Validation monitoring and early stopping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Model checkpointing (saves best model)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Training history logging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522CD5E6-4EAF-F225-C9F8-130D46968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72B1B5F-5BFD-5C2F-8C23-72A64854AB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FILES AND THEIR FUNCTIONS: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2C75734A-E215-36A9-E641-B85DDD715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DA625F1E-5AC9-9C90-3915-4D2BCAD95F98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0F6D39E0-B40A-5BFD-0ADB-02ECBB6B1E13}"/>
              </a:ext>
            </a:extLst>
          </p:cNvPr>
          <p:cNvSpPr txBox="1">
            <a:spLocks/>
          </p:cNvSpPr>
          <p:nvPr/>
        </p:nvSpPr>
        <p:spPr>
          <a:xfrm>
            <a:off x="812800" y="1143000"/>
            <a:ext cx="10668000" cy="51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4. EVALUATE.PY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Model performance evaluation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Test set evaluation with metrics calculation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Confusion matrix generation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ROC-AUC (Receiver Operating Characteristic - Area Under Curve) score computation (when applicable)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Results visualization and saving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5. EXPLAIN.PY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Model explainability and interpretability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Grad-CAM (Gradient-weighted Class Activation Mapping) heatmap generation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Visual explanation of model decisions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Attention map overlay on face sequences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Saves explainability visualizations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6. REQUIREMENTS.TXT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Purpose: Dependency management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Functions: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Lists all required Python packages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Specifies version requirements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Ensures reproducible environment setup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220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DEA3038-9070-7093-3243-6A1A28F81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833BAED-FC06-2C91-DD79-FA34EEB4431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PERFORMANCE CHARACTERISTICS: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FFA745B-5BB2-5A46-5EF1-B871FF27F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FBCB91FD-0CCC-B9E4-83EB-74CFAC1A00D0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3A327363-CA89-F8D4-EE06-59670C1113CA}"/>
              </a:ext>
            </a:extLst>
          </p:cNvPr>
          <p:cNvSpPr txBox="1">
            <a:spLocks/>
          </p:cNvSpPr>
          <p:nvPr/>
        </p:nvSpPr>
        <p:spPr>
          <a:xfrm>
            <a:off x="812800" y="1143000"/>
            <a:ext cx="10668000" cy="51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COMPUTATIONAL COMPLEXITY: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MTCNN (Multi-task Cascaded Convolutional Networks): O(n) per frame, where n = image pixels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DenseNet-121: O(1) per 224x224 image (fixed architecture)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Bidirectional GRU (Gated Recurrent Unit): O(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sequence_length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× hidden_size²)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Overall: O(frames × pixels +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sequence_length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× features)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MEMORY REQUIREMENTS: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Input sequences: 5 × 3 × 224 × 224 = ~600KB (Kilobytes) per sample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DenseNet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features: 1024 dimensions per frame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GRU (Gated Recurrent Unit) hidden states: 512 × 2 (bidirectional) = 1024 dimensions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Batch processing: Scales linearly with batch size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ACCURACY EXPECTATIONS: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Limited dataset : 60-80%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approximate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accuracy</a:t>
            </a:r>
          </a:p>
          <a:p>
            <a:pPr marL="342900" indent="-190500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- ROC-AUC (Receiver Operating Characteristic - Area Under Curve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): if possible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0.8-0.95 for well-trained models</a:t>
            </a:r>
          </a:p>
        </p:txBody>
      </p:sp>
    </p:spTree>
    <p:extLst>
      <p:ext uri="{BB962C8B-B14F-4D97-AF65-F5344CB8AC3E}">
        <p14:creationId xmlns:p14="http://schemas.microsoft.com/office/powerpoint/2010/main" val="386697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4FF4F080-1650-8632-5C3C-446F29D8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2860432B-B752-0DD3-57A6-967EAF2B1C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WITH ALGORITHMS AND FORMULAS(Step Wise):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598D217-21D1-B5D5-E250-0A2BAB472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9BF472F0-B0A0-8CE6-748A-0403C904280B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41CA642A-2907-1541-A8C5-0380261FD411}"/>
              </a:ext>
            </a:extLst>
          </p:cNvPr>
          <p:cNvSpPr txBox="1">
            <a:spLocks/>
          </p:cNvSpPr>
          <p:nvPr/>
        </p:nvSpPr>
        <p:spPr>
          <a:xfrm>
            <a:off x="812799" y="1295400"/>
            <a:ext cx="9893993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j-lt"/>
                <a:ea typeface="Cambria" panose="02040503050406030204" pitchFamily="18" charset="0"/>
              </a:rPr>
              <a:t>1. INPUT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Algorithm: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File I/O Processing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Input: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Video files (.mp4, .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avi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, .mov, .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mkv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Implementation: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cv2.VideoCapture(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video_path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Formula: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V = {f₁, f₂, ..., fₙ} where V = video, fᵢ = frame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i</a:t>
            </a:r>
            <a:endParaRPr lang="en-US" sz="12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j-lt"/>
                <a:ea typeface="Cambria" panose="02040503050406030204" pitchFamily="18" charset="0"/>
              </a:rPr>
              <a:t>2. FRAME EXTRACTION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Algorithm: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OpenCV (Open Source Computer Vision Library) Video Decoding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Process: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Sequential frame reading with BGR to RGB conversion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Implementation: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cv2.cvtColor(frame, cv2.COLOR_BGR2RGB)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Formula: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Fᵣgb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=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ColorTransform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Fbgr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) where F = frame matrix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Output: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RGB frames of shape (H, W, 3)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j-lt"/>
                <a:ea typeface="Cambria" panose="02040503050406030204" pitchFamily="18" charset="0"/>
              </a:rPr>
              <a:t>3. FACE DETECTION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Algorithm: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MTCNN (Multi-task Cascaded Convolutional Networks)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Sub-algorithms: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- P-Net (Proposal Network): L =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L_cls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+ </a:t>
            </a:r>
            <a:r>
              <a:rPr lang="el-GR" sz="1200" dirty="0">
                <a:latin typeface="+mj-lt"/>
                <a:ea typeface="Cambria" panose="02040503050406030204" pitchFamily="18" charset="0"/>
              </a:rPr>
              <a:t>α₁×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L_box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+ </a:t>
            </a:r>
            <a:r>
              <a:rPr lang="el-GR" sz="1200" dirty="0">
                <a:latin typeface="+mj-lt"/>
                <a:ea typeface="Cambria" panose="02040503050406030204" pitchFamily="18" charset="0"/>
              </a:rPr>
              <a:t>α₂×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L_landmark</a:t>
            </a:r>
            <a:endParaRPr lang="en-US" sz="12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- R-Net (Refine Network): Refinement with NMS (Non-Maximum Suppression)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- O-Net (Output Network): Final detection + 5 landmarks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Implementation: 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boxes, probs, landmarks =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detector.detect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pil_frame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, landmarks=True)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j-lt"/>
                <a:ea typeface="Cambria" panose="02040503050406030204" pitchFamily="18" charset="0"/>
              </a:rPr>
              <a:t>   Formula: 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IoU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= Area(B₁ ∩ B₂) / Area(B₁ ∪ B₂) for NMS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j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j-lt"/>
                <a:ea typeface="Cambria" panose="02040503050406030204" pitchFamily="18" charset="0"/>
              </a:rPr>
              <a:t>Output: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 Bounding box [x₁, y₁, x₂, y₂], 5 landmarks [(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x₁,y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₁)...(</a:t>
            </a:r>
            <a:r>
              <a:rPr lang="en-US" sz="1200" dirty="0" err="1">
                <a:latin typeface="+mj-lt"/>
                <a:ea typeface="Cambria" panose="02040503050406030204" pitchFamily="18" charset="0"/>
              </a:rPr>
              <a:t>x₅,y</a:t>
            </a:r>
            <a:r>
              <a:rPr lang="en-US" sz="1200" dirty="0">
                <a:latin typeface="+mj-lt"/>
                <a:ea typeface="Cambria" panose="02040503050406030204" pitchFamily="18" charset="0"/>
              </a:rPr>
              <a:t>₅)]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699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DBB055D-A88C-CD23-1F6C-828206055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5DC69AF1-51D7-981F-6BD5-3A84F53B3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WITH ALGORITHMS AND FORMULAS(Step Wise):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7C21D074-49E5-E926-DC00-3F5F9F54BF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441CCB6C-8C03-1ABD-637B-E4F0477E306B}"/>
              </a:ext>
            </a:extLst>
          </p:cNvPr>
          <p:cNvSpPr txBox="1">
            <a:spLocks/>
          </p:cNvSpPr>
          <p:nvPr/>
        </p:nvSpPr>
        <p:spPr>
          <a:xfrm>
            <a:off x="3688080" y="122428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C3019D7E-DEA3-75B1-46AE-0DEDADE69142}"/>
              </a:ext>
            </a:extLst>
          </p:cNvPr>
          <p:cNvSpPr txBox="1">
            <a:spLocks/>
          </p:cNvSpPr>
          <p:nvPr/>
        </p:nvSpPr>
        <p:spPr>
          <a:xfrm>
            <a:off x="812800" y="1143000"/>
            <a:ext cx="9893993" cy="5247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4. FACE ALIGNMENT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Similarity Transformation (Affine Transformation)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Process: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5-point landmark-based face normalization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Implementation: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cv2.estimateAffinePartial2D(landmarks,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ref_points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Transformation Matrix: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[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s×cos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θ) -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s×sin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θ)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tx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] [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s×sin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θ) 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s×cos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θ)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ty]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Formula: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P' = T × P where T = transformation matrix, P = original points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Aligned face 224×224 pixels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5. SEQUENCE FORMATION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Temporal Windowing with Padding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Process: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Group consecutive aligned faces into sequences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Implementation: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while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len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aligned_faces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 &lt;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sequence_length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pad_sequence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Formula: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 = [F₁, F₂, F₃, F₄, F₅] where S = sequence, Fᵢ = aligned face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i</a:t>
            </a: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Padding Strategy: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Repeat last frame or zero-fill if no faces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Tensor shape (5, 224, 224, 3)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6. PREPROCESSING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ImageNet Normalization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Process: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Standardization for pre-trained model compatibility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transforms.Normalize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(mean=[0.485, 0.456, 0.406], std=[0.229, 0.224, 0.225])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Formula: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X_norm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= (X -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μ) / σ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where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μ =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channel mean,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 =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channel std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RGB Normalization: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Red: (pixel/255 - 0.485) / 0.229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Green: (pixel/255 - 0.456) / 0.224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Blue: (pixel/255 - 0.406) / 0.225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Normalized tensor shape (5, 3, 224, 224)</a:t>
            </a:r>
          </a:p>
        </p:txBody>
      </p:sp>
    </p:spTree>
    <p:extLst>
      <p:ext uri="{BB962C8B-B14F-4D97-AF65-F5344CB8AC3E}">
        <p14:creationId xmlns:p14="http://schemas.microsoft.com/office/powerpoint/2010/main" val="1903651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FC4C711E-D266-60F5-8CDD-8570B686C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79919FD4-F1EC-C34F-1634-51422F07D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WITH ALGORITHMS AND FORMULAS(Step Wise):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6F849CB7-6C3B-D33D-4F55-130D677EB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4389D43E-BFE2-E2EB-95A3-A076ADB9711E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28BC2C47-B046-DC8C-E3EA-CCB8A4874EDA}"/>
              </a:ext>
            </a:extLst>
          </p:cNvPr>
          <p:cNvSpPr txBox="1">
            <a:spLocks/>
          </p:cNvSpPr>
          <p:nvPr/>
        </p:nvSpPr>
        <p:spPr>
          <a:xfrm>
            <a:off x="812799" y="1295400"/>
            <a:ext cx="9893993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7. FEATURE EXTRACTION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DenseNet-121 (Densely Connected Convolutional Networks)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Process: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Spatial feature extraction with dense connectivity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Architecture: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Dense blocks with growth rate k=32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Formula: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x_l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=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H_l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([x₀, x₁, ..., x_{l-1}]) where [·] = concatenation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Implementation: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features =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self.feature_extractor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(x)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Global Average Pooling: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GAP(F) = (1/HW) ×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ᵢ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ⱼ F(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c,i,j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Feature vectors shape (5, 1024) per sequence.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400" b="1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8. TEMPORAL MODELING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Bidirectional GRU (Gated Recurrent Unit)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Process: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Sequential processing in both directions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GRU Gates: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Reset gate: rₜ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Wᵣ × [h_{t-1}, xₜ])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Update gate: zₜ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Wz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× [h_{t-1}, xₜ])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Candidate: h̃ₜ = tanh(Wₕ × [rₜ ⊙ h_{t-1}, xₜ])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- Hidden state: hₜ = (1-zₜ) ⊙ h_{t-1} + zₜ ⊙ h̃ₜ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gru_out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, _ =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self.gru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(features)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Bidirectional: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h_final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= [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h_forward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₅,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h_backward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₁]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Concatenated features shape (1024,)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696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1CD589EA-70D8-20B1-9D0F-84BD68AE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885CA71A-70AA-9C14-3ADB-8D02238369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WITH ALGORITHMS AND FORMULAS(Step Wise):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465B37FC-576F-94AB-02F5-EB38DD7AF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6A782767-D2DB-11B7-E658-F37830741DC3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637CF624-AFC1-7DF6-5EBA-0A185ADB3068}"/>
              </a:ext>
            </a:extLst>
          </p:cNvPr>
          <p:cNvSpPr txBox="1">
            <a:spLocks/>
          </p:cNvSpPr>
          <p:nvPr/>
        </p:nvSpPr>
        <p:spPr>
          <a:xfrm>
            <a:off x="812799" y="1295400"/>
            <a:ext cx="9893993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9. CLASSIFICATION STAGE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MLP (Multi-Layer Perceptron) with Sigmoid Output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Architecture: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Linear(1024→512) →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ReLU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→ Dropout(0.3) → Linear(512→1)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Implementation: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logits =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self.classifier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final_output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Activation: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x) = 1/(1 + e^(-x)) where x = raw logit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Formula: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P(FAKE)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logit), P(REAL) = 1 - P(FAKE)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Output: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Single probability score [0,1]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10. TRAINING STAGE (During Training Phase)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Algorithm: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Adam (Adaptive Moment Estimation) Optimizer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Loss Function: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BCE (Binary Cross-Entropy) with Logits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Loss Formula: 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L = -[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y×log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x)) + (1-y)×log(1-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σ(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x))]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Adam Updates: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Momentum: mₜ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β₁×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m_{t-1} + (1-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β₁)×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gₜ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RMSprop: vₜ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β₂×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v_{t-1} + (1-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β₂)×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gₜ²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Parameter update: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ₜ₊₁ =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θ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ₜ -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α×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m̂ₜ/(√v̂ₜ +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ε)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l-GR" sz="1200" b="1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optimizer.step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() after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loss.backward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Hyperparameters: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lr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=1e-4,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β₁=0.9, β₂=0.999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l-GR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404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8130A7A5-D243-8A4E-8C5B-62D256E9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C9F923A6-630B-4D53-41D9-CEA7F16E47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WITH ALGORITHMS AND FORMULAS(Step Wise):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A4CD18CF-60C9-459A-CE0C-05F7ACF0D8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90FC1B72-F82B-192E-9498-7AF063EFBCB5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37A60947-67DE-10CC-2779-9D46E907E041}"/>
              </a:ext>
            </a:extLst>
          </p:cNvPr>
          <p:cNvSpPr txBox="1">
            <a:spLocks/>
          </p:cNvSpPr>
          <p:nvPr/>
        </p:nvSpPr>
        <p:spPr>
          <a:xfrm>
            <a:off x="812800" y="1295400"/>
            <a:ext cx="528320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l-GR" sz="1400" b="1" dirty="0">
                <a:latin typeface="+mn-lt"/>
                <a:ea typeface="Cambria" panose="02040503050406030204" pitchFamily="18" charset="0"/>
              </a:rPr>
              <a:t>11. </a:t>
            </a:r>
            <a:r>
              <a:rPr lang="en-US" sz="1400" b="1" dirty="0">
                <a:latin typeface="+mn-lt"/>
                <a:ea typeface="Cambria" panose="02040503050406030204" pitchFamily="18" charset="0"/>
              </a:rPr>
              <a:t>EVALUATION STAGE (During Testing Phase)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Algorithms: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Multiple Evaluation Metric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A) Accuracy Calculation: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Formula: Accuracy = (TP + TN) / (TP + TN + FP + FN)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accuracy_score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(labels, predictions)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B) ROC-AUC (Receiver Operating Characteristic - Area Under Curve):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Formula: AUC = ∫₀¹ TPR(FPR⁻¹(t)) dt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Where TPR = TP/(TP+FN), FPR = FP/(FP+TN)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roc_auc_score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(labels, probabilities)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C) Confusion Matrix: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Matrix: [[TN, FP], [FN, TP]]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Implementation: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confusion_matrix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y_true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,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y_pred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Output: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Performance metrics and visualizations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endParaRPr lang="el-GR" sz="1200" dirty="0">
              <a:latin typeface="+mn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sz="1200" dirty="0">
              <a:latin typeface="+mn-lt"/>
              <a:ea typeface="Cambria" panose="02040503050406030204" pitchFamily="18" charset="0"/>
            </a:endParaRPr>
          </a:p>
        </p:txBody>
      </p:sp>
      <p:sp>
        <p:nvSpPr>
          <p:cNvPr id="2" name="Google Shape;115;p17">
            <a:extLst>
              <a:ext uri="{FF2B5EF4-FFF2-40B4-BE49-F238E27FC236}">
                <a16:creationId xmlns:a16="http://schemas.microsoft.com/office/drawing/2014/main" id="{197B8752-C29E-AFFA-2765-FE951D88229E}"/>
              </a:ext>
            </a:extLst>
          </p:cNvPr>
          <p:cNvSpPr txBox="1">
            <a:spLocks/>
          </p:cNvSpPr>
          <p:nvPr/>
        </p:nvSpPr>
        <p:spPr>
          <a:xfrm>
            <a:off x="6095999" y="1295400"/>
            <a:ext cx="5384801" cy="369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400" b="1" dirty="0">
                <a:latin typeface="+mn-lt"/>
                <a:ea typeface="Cambria" panose="02040503050406030204" pitchFamily="18" charset="0"/>
              </a:rPr>
              <a:t>12. EXPLANATION STAGE (For Interpretability)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Algorithm: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Grad-CAM (Gradient-weighted Class Activation Mapping)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Process: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Generate attention heatmaps for decision explanation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Mathematical Steps: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1. Gradient Computation: ∂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y^c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/∂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A^k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_{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i,j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}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2. Global Average Pooling: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α^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c_k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= (1/Z) ×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ᵢ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ⱼ (∂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y^c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/∂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A^k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_{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i,j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})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3. Weighted Combination: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L^c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_{Grad-CAM} =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ReLU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Σ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ₖ </a:t>
            </a:r>
            <a:r>
              <a:rPr lang="el-GR" sz="1200" dirty="0">
                <a:latin typeface="+mn-lt"/>
                <a:ea typeface="Cambria" panose="02040503050406030204" pitchFamily="18" charset="0"/>
              </a:rPr>
              <a:t>α^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c_k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×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A^k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4. Normalization: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CAM_norm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= CAM / max(CAM)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b="1" dirty="0">
                <a:latin typeface="+mn-lt"/>
                <a:ea typeface="Cambria" panose="02040503050406030204" pitchFamily="18" charset="0"/>
              </a:rPr>
              <a:t>    Implementation: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Register hooks: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target_layer.register_full_backward_hook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Backward pass: </a:t>
            </a:r>
            <a:r>
              <a:rPr lang="en-US" sz="1200" dirty="0" err="1">
                <a:latin typeface="+mn-lt"/>
                <a:ea typeface="Cambria" panose="02040503050406030204" pitchFamily="18" charset="0"/>
              </a:rPr>
              <a:t>target_output.backward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()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- Generate heatmap: weighted combination of feature maps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1200" dirty="0">
                <a:latin typeface="+mn-lt"/>
                <a:ea typeface="Cambria" panose="02040503050406030204" pitchFamily="18" charset="0"/>
              </a:rPr>
              <a:t>    </a:t>
            </a:r>
            <a:r>
              <a:rPr lang="en-US" sz="1200" b="1" dirty="0">
                <a:latin typeface="+mn-lt"/>
                <a:ea typeface="Cambria" panose="02040503050406030204" pitchFamily="18" charset="0"/>
              </a:rPr>
              <a:t>Output:</a:t>
            </a:r>
            <a:r>
              <a:rPr lang="en-US" sz="1200" dirty="0">
                <a:latin typeface="+mn-lt"/>
                <a:ea typeface="Cambria" panose="02040503050406030204" pitchFamily="18" charset="0"/>
              </a:rPr>
              <a:t> Visual heatmaps showing decision-relevant facial regions</a:t>
            </a:r>
          </a:p>
        </p:txBody>
      </p:sp>
    </p:spTree>
    <p:extLst>
      <p:ext uri="{BB962C8B-B14F-4D97-AF65-F5344CB8AC3E}">
        <p14:creationId xmlns:p14="http://schemas.microsoft.com/office/powerpoint/2010/main" val="2610588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D210544C-8391-C615-BE77-98A563F61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4B752BA4-BC61-3D76-9623-AEA3E2CFA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DATA FLOW PIPELINE FLOW CHART: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8A835E6-22AA-C85A-199D-1B898F7CC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D51053E3-47EF-FBB2-616B-2B8329190716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6AD72A-5832-B8B3-46E2-6938D4CE9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240" y="1143000"/>
            <a:ext cx="578104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68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>
          <a:extLst>
            <a:ext uri="{FF2B5EF4-FFF2-40B4-BE49-F238E27FC236}">
              <a16:creationId xmlns:a16="http://schemas.microsoft.com/office/drawing/2014/main" id="{A2FF4034-BB28-FDF1-6822-56E138EE9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>
            <a:extLst>
              <a:ext uri="{FF2B5EF4-FFF2-40B4-BE49-F238E27FC236}">
                <a16:creationId xmlns:a16="http://schemas.microsoft.com/office/drawing/2014/main" id="{DB934040-59FB-9B8F-5AD8-F46058791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2800" y="36585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sz="2000" dirty="0">
                <a:latin typeface="+mj-lt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>
            <a:extLst>
              <a:ext uri="{FF2B5EF4-FFF2-40B4-BE49-F238E27FC236}">
                <a16:creationId xmlns:a16="http://schemas.microsoft.com/office/drawing/2014/main" id="{D2FA4F30-2787-110D-2729-D8AF8EC0B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4" name="Google Shape;115;p17">
            <a:extLst>
              <a:ext uri="{FF2B5EF4-FFF2-40B4-BE49-F238E27FC236}">
                <a16:creationId xmlns:a16="http://schemas.microsoft.com/office/drawing/2014/main" id="{B524CB74-09FE-9C8D-BC71-9781580EBB4C}"/>
              </a:ext>
            </a:extLst>
          </p:cNvPr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  <p:sp>
        <p:nvSpPr>
          <p:cNvPr id="5" name="Google Shape;115;p17">
            <a:extLst>
              <a:ext uri="{FF2B5EF4-FFF2-40B4-BE49-F238E27FC236}">
                <a16:creationId xmlns:a16="http://schemas.microsoft.com/office/drawing/2014/main" id="{9C48458C-705C-D7F4-AE8D-4BFBF8350F03}"/>
              </a:ext>
            </a:extLst>
          </p:cNvPr>
          <p:cNvSpPr txBox="1">
            <a:spLocks/>
          </p:cNvSpPr>
          <p:nvPr/>
        </p:nvSpPr>
        <p:spPr>
          <a:xfrm>
            <a:off x="812800" y="1295400"/>
            <a:ext cx="656336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sz="1400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Github</a:t>
            </a:r>
            <a:r>
              <a:rPr lang="en-US" sz="1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Cambria" panose="02040503050406030204" pitchFamily="18" charset="0"/>
              </a:rPr>
              <a:t> Link</a:t>
            </a:r>
            <a:endParaRPr lang="en-US" sz="4000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US" sz="1200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+mj-lt"/>
                <a:ea typeface="Cambria" panose="02040503050406030204" pitchFamily="18" charset="0"/>
              </a:rPr>
              <a:t>https://github.com/SandeepKumar-san/CSG31_PSCS314_DEEPFAKE-DETECTION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+mj-lt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479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81DDB871361914C92E59AEC9AD0EF2A" ma:contentTypeVersion="10" ma:contentTypeDescription="Create a new document." ma:contentTypeScope="" ma:versionID="8cd229de15c1096e0f11a07052de889c">
  <xsd:schema xmlns:xsd="http://www.w3.org/2001/XMLSchema" xmlns:xs="http://www.w3.org/2001/XMLSchema" xmlns:p="http://schemas.microsoft.com/office/2006/metadata/properties" xmlns:ns3="d450f434-8884-451b-956f-1819749fd748" targetNamespace="http://schemas.microsoft.com/office/2006/metadata/properties" ma:root="true" ma:fieldsID="0dd65abc612a32fe00759cd589969e5b" ns3:_="">
    <xsd:import namespace="d450f434-8884-451b-956f-1819749fd74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0f434-8884-451b-956f-1819749fd7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450f434-8884-451b-956f-1819749fd748" xsi:nil="true"/>
  </documentManagement>
</p:properties>
</file>

<file path=customXml/itemProps1.xml><?xml version="1.0" encoding="utf-8"?>
<ds:datastoreItem xmlns:ds="http://schemas.openxmlformats.org/officeDocument/2006/customXml" ds:itemID="{4B8BB72E-3151-4719-A471-684228DBF7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50f434-8884-451b-956f-1819749fd7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52B59E-83A0-425F-B787-3BC304F9A89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0195DC0-2B0E-42B3-A622-E2CDACDB8599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purl.org/dc/terms/"/>
    <ds:schemaRef ds:uri="d450f434-8884-451b-956f-1819749fd748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2961</Words>
  <Application>Microsoft Office PowerPoint</Application>
  <PresentationFormat>Widescreen</PresentationFormat>
  <Paragraphs>389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Verdana</vt:lpstr>
      <vt:lpstr>Bioinformatics</vt:lpstr>
      <vt:lpstr>Development of AI/ML based solution for detection of face-swap based deep fake videos</vt:lpstr>
      <vt:lpstr>DETAILS</vt:lpstr>
      <vt:lpstr>Problem Statement</vt:lpstr>
      <vt:lpstr>Algorithms</vt:lpstr>
      <vt:lpstr>Algorithms</vt:lpstr>
      <vt:lpstr>Algorithms</vt:lpstr>
      <vt:lpstr>FILES AND THEIR FUNCTIONS:</vt:lpstr>
      <vt:lpstr>FILES AND THEIR FUNCTIONS:</vt:lpstr>
      <vt:lpstr>PERFORMANCE CHARACTERISTICS:</vt:lpstr>
      <vt:lpstr>DATA FLOW PIPELINE WITH ALGORITHMS AND FORMULAS(Step Wise):</vt:lpstr>
      <vt:lpstr>DATA FLOW PIPELINE WITH ALGORITHMS AND FORMULAS(Step Wise):</vt:lpstr>
      <vt:lpstr>DATA FLOW PIPELINE WITH ALGORITHMS AND FORMULAS(Step Wise):</vt:lpstr>
      <vt:lpstr>DATA FLOW PIPELINE WITH ALGORITHMS AND FORMULAS(Step Wise):</vt:lpstr>
      <vt:lpstr>DATA FLOW PIPELINE WITH ALGORITHMS AND FORMULAS(Step Wise):</vt:lpstr>
      <vt:lpstr>DATA FLOW PIPELINE FLOW CHART: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Sandeep Kumar</cp:lastModifiedBy>
  <cp:revision>50</cp:revision>
  <dcterms:modified xsi:type="dcterms:W3CDTF">2025-09-26T06:05:21Z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0x010100881DDB871361914C92E59AEC9AD0EF2A</vt:lpwstr>
  </property>
</Properties>
</file>